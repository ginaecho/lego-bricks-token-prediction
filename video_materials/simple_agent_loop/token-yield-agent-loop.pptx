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architecture, not a recording of live agent execution. The orchestrator agent understands the brief and checks existing bricks and combinations. Agents propose reuse or a new brick with a bounded atom contract; a human approves their proposal. For a novel approved brick, the feature engineering agent coordinates simulations of the brick and representative combinations with an execution harness. Real measured token counts are training labels, not leaked inputs. Contract, atom and workload descriptors become features. The model training agent fits a candidate, validates on unseen holdouts and obtains release approval. Only then does the Predictive Model infer project token usage. Downstream estimation logic combines these predictions with scope, rates, productivity and explicit benefit assumptions to estimate staffing, costs and projected ROI. Documentation agents use that scope and the estimates to prepare a Draft SOW, staffing workbook and estimate summary; these documents are not direct raw model outputs. Real usage and consented client outcome evidence return to the learning loop. Learned benefit/ROI predictions require sufficient outcome evidence, baselines, total costs, time horizon and uncertainty; otherwise ROI is scenario-based. Reuse can use the current approved model without mandatory retraining; the full path shown explains the learning cycle when new evidence warrants it. Download tiles depict application outputs and are not interactive links.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hape"/>
          <p:cNvSpPr/>
          <p:nvPr/>
        </p:nvSpPr>
        <p:spPr>
          <a:xfrm>
            <a:off x="548640" y="457200"/>
            <a:ext cx="1207008" cy="246888"/>
          </a:xfrm>
          <a:prstGeom prst="roundRect">
            <a:avLst>
              <a:gd name="adj" fmla="val 10000"/>
            </a:avLst>
          </a:prstGeom>
          <a:solidFill>
            <a:srgbClr val="E3EBDD"/>
          </a:solidFill>
          <a:ln w="8890">
            <a:solidFill>
              <a:srgbClr val="E3EBD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HOW IT WORKS"/>
          <p:cNvSpPr txBox="1"/>
          <p:nvPr/>
        </p:nvSpPr>
        <p:spPr>
          <a:xfrm>
            <a:off x="640080" y="512064"/>
            <a:ext cx="1042415" cy="146304"/>
          </a:xfrm>
          <a:prstGeom prst="rect">
            <a:avLst/>
          </a:prstGeom>
          <a:noFill/>
        </p:spPr>
        <p:txBody>
          <a:bodyPr wrap="square" lIns="0" rIns="0" tIns="0" bIns="0" anchor="t">
            <a:spAutoFit/>
          </a:bodyPr>
          <a:lstStyle/>
          <a:p>
            <a:pPr>
              <a:lnSpc>
                <a:spcPct val="112000"/>
              </a:lnSpc>
              <a:spcAft>
                <a:spcPts val="0"/>
              </a:spcAft>
            </a:pPr>
            <a:r>
              <a:rPr sz="850" b="1" i="0">
                <a:solidFill>
                  <a:srgbClr val="1E3B32"/>
                </a:solidFill>
                <a:latin typeface="Arial"/>
              </a:rPr>
              <a:t>HOW IT WORKS</a:t>
            </a:r>
          </a:p>
        </p:txBody>
      </p:sp>
      <p:sp>
        <p:nvSpPr>
          <p:cNvPr id="4" name="A smarter estimate, one brick at a time"/>
          <p:cNvSpPr txBox="1"/>
          <p:nvPr/>
        </p:nvSpPr>
        <p:spPr>
          <a:xfrm>
            <a:off x="548640" y="832104"/>
            <a:ext cx="11064240" cy="530352"/>
          </a:xfrm>
          <a:prstGeom prst="rect">
            <a:avLst/>
          </a:prstGeom>
          <a:noFill/>
        </p:spPr>
        <p:txBody>
          <a:bodyPr wrap="square" lIns="0" rIns="0" tIns="0" bIns="0" anchor="t">
            <a:spAutoFit/>
          </a:bodyPr>
          <a:lstStyle/>
          <a:p>
            <a:pPr>
              <a:lnSpc>
                <a:spcPct val="112000"/>
              </a:lnSpc>
              <a:spcAft>
                <a:spcPts val="0"/>
              </a:spcAft>
            </a:pPr>
            <a:r>
              <a:rPr sz="3000" b="1" i="0">
                <a:solidFill>
                  <a:srgbClr val="1E3B32"/>
                </a:solidFill>
                <a:latin typeface="Arial"/>
              </a:rPr>
              <a:t>A smarter estimate, one brick at a time</a:t>
            </a:r>
          </a:p>
        </p:txBody>
      </p:sp>
      <p:sp>
        <p:nvSpPr>
          <p:cNvPr id="5" name="Agents prepare and train. The predictive model estimates. Real outcomes close the loop."/>
          <p:cNvSpPr txBox="1"/>
          <p:nvPr/>
        </p:nvSpPr>
        <p:spPr>
          <a:xfrm>
            <a:off x="548640" y="1426464"/>
            <a:ext cx="11064240" cy="256032"/>
          </a:xfrm>
          <a:prstGeom prst="rect">
            <a:avLst/>
          </a:prstGeom>
          <a:noFill/>
        </p:spPr>
        <p:txBody>
          <a:bodyPr wrap="square" lIns="0" rIns="0" tIns="0" bIns="0" anchor="t">
            <a:spAutoFit/>
          </a:bodyPr>
          <a:lstStyle/>
          <a:p>
            <a:pPr>
              <a:lnSpc>
                <a:spcPct val="112000"/>
              </a:lnSpc>
              <a:spcAft>
                <a:spcPts val="0"/>
              </a:spcAft>
            </a:pPr>
            <a:r>
              <a:rPr sz="1300" b="0" i="0">
                <a:solidFill>
                  <a:srgbClr val="586D61"/>
                </a:solidFill>
                <a:latin typeface="Arial"/>
              </a:rPr>
              <a:t>Agents prepare and train. The predictive model estimates. Real outcomes close the loop.</a:t>
            </a:r>
          </a:p>
        </p:txBody>
      </p:sp>
      <p:sp>
        <p:nvSpPr>
          <p:cNvPr id="6" name="stage-0"/>
          <p:cNvSpPr/>
          <p:nvPr/>
        </p:nvSpPr>
        <p:spPr>
          <a:xfrm>
            <a:off x="548640" y="2240280"/>
            <a:ext cx="1664208" cy="2560320"/>
          </a:xfrm>
          <a:prstGeom prst="roundRect">
            <a:avLst>
              <a:gd name="adj" fmla="val 10000"/>
            </a:avLst>
          </a:prstGeom>
          <a:solidFill>
            <a:srgbClr val="F4F6F0"/>
          </a:solidFill>
          <a:ln w="8890">
            <a:solidFill>
              <a:srgbClr val="CED9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shape"/>
          <p:cNvSpPr/>
          <p:nvPr/>
        </p:nvSpPr>
        <p:spPr>
          <a:xfrm>
            <a:off x="704088" y="2404872"/>
            <a:ext cx="512064" cy="512064"/>
          </a:xfrm>
          <a:prstGeom prst="roundRect">
            <a:avLst>
              <a:gd name="adj" fmla="val 10000"/>
            </a:avLst>
          </a:prstGeom>
          <a:solidFill>
            <a:srgbClr val="E3EBDD"/>
          </a:solidFill>
          <a:ln w="8890">
            <a:solidFill>
              <a:srgbClr val="E3EBD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icon-search"/>
          <p:cNvSpPr/>
          <p:nvPr/>
        </p:nvSpPr>
        <p:spPr>
          <a:xfrm>
            <a:off x="814181" y="2507284"/>
            <a:ext cx="184343" cy="184343"/>
          </a:xfrm>
          <a:prstGeom prst="ellipse">
            <a:avLst/>
          </a:prstGeom>
          <a:solidFill>
            <a:srgbClr val="E3EBDD"/>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line"/>
          <p:cNvCxnSpPr/>
          <p:nvPr/>
        </p:nvCxnSpPr>
        <p:spPr>
          <a:xfrm>
            <a:off x="971641" y="2672425"/>
            <a:ext cx="134417" cy="134417"/>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10" name="line"/>
          <p:cNvCxnSpPr/>
          <p:nvPr/>
        </p:nvCxnSpPr>
        <p:spPr>
          <a:xfrm>
            <a:off x="856427" y="2584094"/>
            <a:ext cx="92171" cy="0"/>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11" name="line"/>
          <p:cNvCxnSpPr/>
          <p:nvPr/>
        </p:nvCxnSpPr>
        <p:spPr>
          <a:xfrm>
            <a:off x="856427" y="2622499"/>
            <a:ext cx="65288" cy="0"/>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sp>
        <p:nvSpPr>
          <p:cNvPr id="12" name="01"/>
          <p:cNvSpPr txBox="1"/>
          <p:nvPr/>
        </p:nvSpPr>
        <p:spPr>
          <a:xfrm>
            <a:off x="1746504" y="2514600"/>
            <a:ext cx="292608" cy="228600"/>
          </a:xfrm>
          <a:prstGeom prst="rect">
            <a:avLst/>
          </a:prstGeom>
          <a:noFill/>
        </p:spPr>
        <p:txBody>
          <a:bodyPr wrap="square" lIns="0" rIns="0" tIns="0" bIns="0" anchor="t">
            <a:spAutoFit/>
          </a:bodyPr>
          <a:lstStyle/>
          <a:p>
            <a:pPr>
              <a:lnSpc>
                <a:spcPct val="112000"/>
              </a:lnSpc>
              <a:spcAft>
                <a:spcPts val="0"/>
              </a:spcAft>
            </a:pPr>
            <a:r>
              <a:rPr sz="1200" b="1" i="0">
                <a:solidFill>
                  <a:srgbClr val="586D61"/>
                </a:solidFill>
                <a:latin typeface="Arial"/>
              </a:rPr>
              <a:t>01</a:t>
            </a:r>
          </a:p>
        </p:txBody>
      </p:sp>
      <p:sp>
        <p:nvSpPr>
          <p:cNvPr id="13" name="ORCHESTRATOR&#10;AGENT"/>
          <p:cNvSpPr txBox="1"/>
          <p:nvPr/>
        </p:nvSpPr>
        <p:spPr>
          <a:xfrm>
            <a:off x="704088" y="3026664"/>
            <a:ext cx="1353312" cy="548640"/>
          </a:xfrm>
          <a:prstGeom prst="rect">
            <a:avLst/>
          </a:prstGeom>
          <a:noFill/>
        </p:spPr>
        <p:txBody>
          <a:bodyPr wrap="square" lIns="0" rIns="0" tIns="0" bIns="0" anchor="t">
            <a:spAutoFit/>
          </a:bodyPr>
          <a:lstStyle/>
          <a:p>
            <a:pPr>
              <a:lnSpc>
                <a:spcPct val="112000"/>
              </a:lnSpc>
              <a:spcAft>
                <a:spcPts val="0"/>
              </a:spcAft>
            </a:pPr>
            <a:r>
              <a:rPr sz="1090" b="1" i="0">
                <a:solidFill>
                  <a:srgbClr val="1E3B32"/>
                </a:solidFill>
                <a:latin typeface="Arial"/>
              </a:rPr>
              <a:t>ORCHESTRATOR</a:t>
            </a:r>
          </a:p>
          <a:p>
            <a:pPr>
              <a:lnSpc>
                <a:spcPct val="112000"/>
              </a:lnSpc>
              <a:spcAft>
                <a:spcPts val="0"/>
              </a:spcAft>
            </a:pPr>
            <a:r>
              <a:rPr sz="1090" b="1" i="0">
                <a:solidFill>
                  <a:srgbClr val="1E3B32"/>
                </a:solidFill>
                <a:latin typeface="Arial"/>
              </a:rPr>
              <a:t>AGENT</a:t>
            </a:r>
          </a:p>
        </p:txBody>
      </p:sp>
      <p:sp>
        <p:nvSpPr>
          <p:cNvPr id="14" name="Understand"/>
          <p:cNvSpPr txBox="1"/>
          <p:nvPr/>
        </p:nvSpPr>
        <p:spPr>
          <a:xfrm>
            <a:off x="704088" y="3630168"/>
            <a:ext cx="1353312" cy="320040"/>
          </a:xfrm>
          <a:prstGeom prst="rect">
            <a:avLst/>
          </a:prstGeom>
          <a:noFill/>
        </p:spPr>
        <p:txBody>
          <a:bodyPr wrap="square" lIns="0" rIns="0" tIns="0" bIns="0" anchor="t">
            <a:spAutoFit/>
          </a:bodyPr>
          <a:lstStyle/>
          <a:p>
            <a:pPr>
              <a:lnSpc>
                <a:spcPct val="112000"/>
              </a:lnSpc>
              <a:spcAft>
                <a:spcPts val="0"/>
              </a:spcAft>
            </a:pPr>
            <a:r>
              <a:rPr sz="1750" b="1" i="0">
                <a:solidFill>
                  <a:srgbClr val="1E3B32"/>
                </a:solidFill>
                <a:latin typeface="Arial"/>
              </a:rPr>
              <a:t>Understand</a:t>
            </a:r>
          </a:p>
        </p:txBody>
      </p:sp>
      <p:sp>
        <p:nvSpPr>
          <p:cNvPr id="15" name="Read the brief&#10;Match existing bricks"/>
          <p:cNvSpPr txBox="1"/>
          <p:nvPr/>
        </p:nvSpPr>
        <p:spPr>
          <a:xfrm>
            <a:off x="704088" y="4087368"/>
            <a:ext cx="1353312" cy="603504"/>
          </a:xfrm>
          <a:prstGeom prst="rect">
            <a:avLst/>
          </a:prstGeom>
          <a:noFill/>
        </p:spPr>
        <p:txBody>
          <a:bodyPr wrap="square" lIns="0" rIns="0" tIns="0" bIns="0" anchor="t">
            <a:spAutoFit/>
          </a:bodyPr>
          <a:lstStyle/>
          <a:p>
            <a:pPr>
              <a:lnSpc>
                <a:spcPct val="112000"/>
              </a:lnSpc>
              <a:spcAft>
                <a:spcPts val="0"/>
              </a:spcAft>
            </a:pPr>
            <a:r>
              <a:rPr sz="1040" b="0" i="0">
                <a:solidFill>
                  <a:srgbClr val="1E3B32"/>
                </a:solidFill>
                <a:latin typeface="Arial"/>
              </a:rPr>
              <a:t>Read the brief</a:t>
            </a:r>
          </a:p>
          <a:p>
            <a:pPr>
              <a:lnSpc>
                <a:spcPct val="112000"/>
              </a:lnSpc>
              <a:spcAft>
                <a:spcPts val="0"/>
              </a:spcAft>
            </a:pPr>
            <a:r>
              <a:rPr sz="1040" b="0" i="0">
                <a:solidFill>
                  <a:srgbClr val="1E3B32"/>
                </a:solidFill>
                <a:latin typeface="Arial"/>
              </a:rPr>
              <a:t>Match existing bricks</a:t>
            </a:r>
          </a:p>
        </p:txBody>
      </p:sp>
      <p:cxnSp>
        <p:nvCxnSpPr>
          <p:cNvPr id="16" name="line"/>
          <p:cNvCxnSpPr/>
          <p:nvPr/>
        </p:nvCxnSpPr>
        <p:spPr>
          <a:xfrm>
            <a:off x="2231136" y="3611880"/>
            <a:ext cx="182880" cy="0"/>
          </a:xfrm>
          <a:prstGeom prst="line">
            <a:avLst/>
          </a:prstGeom>
          <a:ln w="13970">
            <a:solidFill>
              <a:srgbClr val="1E3B32"/>
            </a:solidFill>
            <a:tailEnd type="triangle"/>
          </a:ln>
        </p:spPr>
        <p:style>
          <a:lnRef idx="2">
            <a:schemeClr val="accent1"/>
          </a:lnRef>
          <a:fillRef idx="0">
            <a:schemeClr val="accent1"/>
          </a:fillRef>
          <a:effectRef idx="0">
            <a:schemeClr val="accent1"/>
          </a:effectRef>
          <a:fontRef idx="minor">
            <a:schemeClr val="tx1"/>
          </a:fontRef>
        </p:style>
      </p:cxnSp>
      <p:sp>
        <p:nvSpPr>
          <p:cNvPr id="17" name="stage-1"/>
          <p:cNvSpPr/>
          <p:nvPr/>
        </p:nvSpPr>
        <p:spPr>
          <a:xfrm>
            <a:off x="2432304" y="2240280"/>
            <a:ext cx="1664208" cy="2560320"/>
          </a:xfrm>
          <a:prstGeom prst="roundRect">
            <a:avLst>
              <a:gd name="adj" fmla="val 10000"/>
            </a:avLst>
          </a:prstGeom>
          <a:solidFill>
            <a:srgbClr val="FBEFE2"/>
          </a:solidFill>
          <a:ln w="8890">
            <a:solidFill>
              <a:srgbClr val="EDD7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shape"/>
          <p:cNvSpPr/>
          <p:nvPr/>
        </p:nvSpPr>
        <p:spPr>
          <a:xfrm>
            <a:off x="2587752" y="2404872"/>
            <a:ext cx="512064" cy="512064"/>
          </a:xfrm>
          <a:prstGeom prst="roundRect">
            <a:avLst>
              <a:gd name="adj" fmla="val 10000"/>
            </a:avLst>
          </a:prstGeom>
          <a:solidFill>
            <a:srgbClr val="F3D8B8"/>
          </a:solidFill>
          <a:ln w="8890">
            <a:solidFill>
              <a:srgbClr val="F3D8B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icon-person"/>
          <p:cNvSpPr/>
          <p:nvPr/>
        </p:nvSpPr>
        <p:spPr>
          <a:xfrm>
            <a:off x="2720888" y="2507284"/>
            <a:ext cx="107533" cy="107533"/>
          </a:xfrm>
          <a:prstGeom prst="ellipse">
            <a:avLst/>
          </a:prstGeom>
          <a:solidFill>
            <a:srgbClr val="F3D8B8"/>
          </a:solidFill>
          <a:ln w="8890">
            <a:solidFill>
              <a:srgbClr val="8E4E2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line"/>
          <p:cNvCxnSpPr/>
          <p:nvPr/>
        </p:nvCxnSpPr>
        <p:spPr>
          <a:xfrm flipV="1">
            <a:off x="2682483" y="2718511"/>
            <a:ext cx="0" cy="80650"/>
          </a:xfrm>
          <a:prstGeom prst="line">
            <a:avLst/>
          </a:prstGeom>
          <a:ln w="21590">
            <a:solidFill>
              <a:srgbClr val="8E4E22"/>
            </a:solidFill>
          </a:ln>
        </p:spPr>
        <p:style>
          <a:lnRef idx="2">
            <a:schemeClr val="accent1"/>
          </a:lnRef>
          <a:fillRef idx="0">
            <a:schemeClr val="accent1"/>
          </a:fillRef>
          <a:effectRef idx="0">
            <a:schemeClr val="accent1"/>
          </a:effectRef>
          <a:fontRef idx="minor">
            <a:schemeClr val="tx1"/>
          </a:fontRef>
        </p:style>
      </p:cxnSp>
      <p:cxnSp>
        <p:nvCxnSpPr>
          <p:cNvPr id="21" name="line"/>
          <p:cNvCxnSpPr/>
          <p:nvPr/>
        </p:nvCxnSpPr>
        <p:spPr>
          <a:xfrm flipV="1">
            <a:off x="2682483" y="2668584"/>
            <a:ext cx="92172" cy="49927"/>
          </a:xfrm>
          <a:prstGeom prst="line">
            <a:avLst/>
          </a:prstGeom>
          <a:ln w="21590">
            <a:solidFill>
              <a:srgbClr val="8E4E22"/>
            </a:solidFill>
          </a:ln>
        </p:spPr>
        <p:style>
          <a:lnRef idx="2">
            <a:schemeClr val="accent1"/>
          </a:lnRef>
          <a:fillRef idx="0">
            <a:schemeClr val="accent1"/>
          </a:fillRef>
          <a:effectRef idx="0">
            <a:schemeClr val="accent1"/>
          </a:effectRef>
          <a:fontRef idx="minor">
            <a:schemeClr val="tx1"/>
          </a:fontRef>
        </p:style>
      </p:cxnSp>
      <p:cxnSp>
        <p:nvCxnSpPr>
          <p:cNvPr id="22" name="line"/>
          <p:cNvCxnSpPr/>
          <p:nvPr/>
        </p:nvCxnSpPr>
        <p:spPr>
          <a:xfrm>
            <a:off x="2774655" y="2668584"/>
            <a:ext cx="76809" cy="46086"/>
          </a:xfrm>
          <a:prstGeom prst="line">
            <a:avLst/>
          </a:prstGeom>
          <a:ln w="21590">
            <a:solidFill>
              <a:srgbClr val="8E4E22"/>
            </a:solidFill>
          </a:ln>
        </p:spPr>
        <p:style>
          <a:lnRef idx="2">
            <a:schemeClr val="accent1"/>
          </a:lnRef>
          <a:fillRef idx="0">
            <a:schemeClr val="accent1"/>
          </a:fillRef>
          <a:effectRef idx="0">
            <a:schemeClr val="accent1"/>
          </a:effectRef>
          <a:fontRef idx="minor">
            <a:schemeClr val="tx1"/>
          </a:fontRef>
        </p:style>
      </p:cxnSp>
      <p:cxnSp>
        <p:nvCxnSpPr>
          <p:cNvPr id="23" name="line"/>
          <p:cNvCxnSpPr/>
          <p:nvPr/>
        </p:nvCxnSpPr>
        <p:spPr>
          <a:xfrm>
            <a:off x="2855305" y="2737713"/>
            <a:ext cx="46086" cy="53767"/>
          </a:xfrm>
          <a:prstGeom prst="line">
            <a:avLst/>
          </a:prstGeom>
          <a:ln w="21590">
            <a:solidFill>
              <a:srgbClr val="8E4E22"/>
            </a:solidFill>
          </a:ln>
        </p:spPr>
        <p:style>
          <a:lnRef idx="2">
            <a:schemeClr val="accent1"/>
          </a:lnRef>
          <a:fillRef idx="0">
            <a:schemeClr val="accent1"/>
          </a:fillRef>
          <a:effectRef idx="0">
            <a:schemeClr val="accent1"/>
          </a:effectRef>
          <a:fontRef idx="minor">
            <a:schemeClr val="tx1"/>
          </a:fontRef>
        </p:style>
      </p:cxnSp>
      <p:cxnSp>
        <p:nvCxnSpPr>
          <p:cNvPr id="24" name="line"/>
          <p:cNvCxnSpPr/>
          <p:nvPr/>
        </p:nvCxnSpPr>
        <p:spPr>
          <a:xfrm flipV="1">
            <a:off x="2901391" y="2645542"/>
            <a:ext cx="103693" cy="145938"/>
          </a:xfrm>
          <a:prstGeom prst="line">
            <a:avLst/>
          </a:prstGeom>
          <a:ln w="21590">
            <a:solidFill>
              <a:srgbClr val="8E4E22"/>
            </a:solidFill>
          </a:ln>
        </p:spPr>
        <p:style>
          <a:lnRef idx="2">
            <a:schemeClr val="accent1"/>
          </a:lnRef>
          <a:fillRef idx="0">
            <a:schemeClr val="accent1"/>
          </a:fillRef>
          <a:effectRef idx="0">
            <a:schemeClr val="accent1"/>
          </a:effectRef>
          <a:fontRef idx="minor">
            <a:schemeClr val="tx1"/>
          </a:fontRef>
        </p:style>
      </p:cxnSp>
      <p:sp>
        <p:nvSpPr>
          <p:cNvPr id="25" name="02"/>
          <p:cNvSpPr txBox="1"/>
          <p:nvPr/>
        </p:nvSpPr>
        <p:spPr>
          <a:xfrm>
            <a:off x="3630168" y="2514600"/>
            <a:ext cx="292608" cy="228600"/>
          </a:xfrm>
          <a:prstGeom prst="rect">
            <a:avLst/>
          </a:prstGeom>
          <a:noFill/>
        </p:spPr>
        <p:txBody>
          <a:bodyPr wrap="square" lIns="0" rIns="0" tIns="0" bIns="0" anchor="t">
            <a:spAutoFit/>
          </a:bodyPr>
          <a:lstStyle/>
          <a:p>
            <a:pPr>
              <a:lnSpc>
                <a:spcPct val="112000"/>
              </a:lnSpc>
              <a:spcAft>
                <a:spcPts val="0"/>
              </a:spcAft>
            </a:pPr>
            <a:r>
              <a:rPr sz="1200" b="1" i="0">
                <a:solidFill>
                  <a:srgbClr val="586D61"/>
                </a:solidFill>
                <a:latin typeface="Arial"/>
              </a:rPr>
              <a:t>02</a:t>
            </a:r>
          </a:p>
        </p:txBody>
      </p:sp>
      <p:sp>
        <p:nvSpPr>
          <p:cNvPr id="26" name="AGENTS +&#10;HUMAN"/>
          <p:cNvSpPr txBox="1"/>
          <p:nvPr/>
        </p:nvSpPr>
        <p:spPr>
          <a:xfrm>
            <a:off x="2587752" y="3026664"/>
            <a:ext cx="1353312" cy="548640"/>
          </a:xfrm>
          <a:prstGeom prst="rect">
            <a:avLst/>
          </a:prstGeom>
          <a:noFill/>
        </p:spPr>
        <p:txBody>
          <a:bodyPr wrap="square" lIns="0" rIns="0" tIns="0" bIns="0" anchor="t">
            <a:spAutoFit/>
          </a:bodyPr>
          <a:lstStyle/>
          <a:p>
            <a:pPr>
              <a:lnSpc>
                <a:spcPct val="112000"/>
              </a:lnSpc>
              <a:spcAft>
                <a:spcPts val="0"/>
              </a:spcAft>
            </a:pPr>
            <a:r>
              <a:rPr sz="1090" b="1" i="0">
                <a:solidFill>
                  <a:srgbClr val="1E3B32"/>
                </a:solidFill>
                <a:latin typeface="Arial"/>
              </a:rPr>
              <a:t>AGENTS +</a:t>
            </a:r>
          </a:p>
          <a:p>
            <a:pPr>
              <a:lnSpc>
                <a:spcPct val="112000"/>
              </a:lnSpc>
              <a:spcAft>
                <a:spcPts val="0"/>
              </a:spcAft>
            </a:pPr>
            <a:r>
              <a:rPr sz="1090" b="1" i="0">
                <a:solidFill>
                  <a:srgbClr val="1E3B32"/>
                </a:solidFill>
                <a:latin typeface="Arial"/>
              </a:rPr>
              <a:t>HUMAN</a:t>
            </a:r>
          </a:p>
        </p:txBody>
      </p:sp>
      <p:sp>
        <p:nvSpPr>
          <p:cNvPr id="27" name="Approve"/>
          <p:cNvSpPr txBox="1"/>
          <p:nvPr/>
        </p:nvSpPr>
        <p:spPr>
          <a:xfrm>
            <a:off x="2587752" y="3630168"/>
            <a:ext cx="1353312" cy="320040"/>
          </a:xfrm>
          <a:prstGeom prst="rect">
            <a:avLst/>
          </a:prstGeom>
          <a:noFill/>
        </p:spPr>
        <p:txBody>
          <a:bodyPr wrap="square" lIns="0" rIns="0" tIns="0" bIns="0" anchor="t">
            <a:spAutoFit/>
          </a:bodyPr>
          <a:lstStyle/>
          <a:p>
            <a:pPr>
              <a:lnSpc>
                <a:spcPct val="112000"/>
              </a:lnSpc>
              <a:spcAft>
                <a:spcPts val="0"/>
              </a:spcAft>
            </a:pPr>
            <a:r>
              <a:rPr sz="1750" b="1" i="0">
                <a:solidFill>
                  <a:srgbClr val="8E4E22"/>
                </a:solidFill>
                <a:latin typeface="Arial"/>
              </a:rPr>
              <a:t>Approve</a:t>
            </a:r>
          </a:p>
        </p:txBody>
      </p:sp>
      <p:sp>
        <p:nvSpPr>
          <p:cNvPr id="28" name="Agents propose"/>
          <p:cNvSpPr txBox="1"/>
          <p:nvPr/>
        </p:nvSpPr>
        <p:spPr>
          <a:xfrm>
            <a:off x="2587752" y="4032504"/>
            <a:ext cx="1353312" cy="201168"/>
          </a:xfrm>
          <a:prstGeom prst="rect">
            <a:avLst/>
          </a:prstGeom>
          <a:noFill/>
        </p:spPr>
        <p:txBody>
          <a:bodyPr wrap="square" lIns="0" rIns="0" tIns="0" bIns="0" anchor="t">
            <a:spAutoFit/>
          </a:bodyPr>
          <a:lstStyle/>
          <a:p>
            <a:pPr>
              <a:lnSpc>
                <a:spcPct val="112000"/>
              </a:lnSpc>
              <a:spcAft>
                <a:spcPts val="0"/>
              </a:spcAft>
            </a:pPr>
            <a:r>
              <a:rPr sz="1060" b="1" i="0">
                <a:solidFill>
                  <a:srgbClr val="1E3B32"/>
                </a:solidFill>
                <a:latin typeface="Arial"/>
              </a:rPr>
              <a:t>Agents propose</a:t>
            </a:r>
          </a:p>
        </p:txBody>
      </p:sp>
      <p:sp>
        <p:nvSpPr>
          <p:cNvPr id="29" name="Reuse or new brick"/>
          <p:cNvSpPr txBox="1"/>
          <p:nvPr/>
        </p:nvSpPr>
        <p:spPr>
          <a:xfrm>
            <a:off x="2587752" y="4242816"/>
            <a:ext cx="1353312" cy="192024"/>
          </a:xfrm>
          <a:prstGeom prst="rect">
            <a:avLst/>
          </a:prstGeom>
          <a:noFill/>
        </p:spPr>
        <p:txBody>
          <a:bodyPr wrap="square" lIns="0" rIns="0" tIns="0" bIns="0" anchor="t">
            <a:spAutoFit/>
          </a:bodyPr>
          <a:lstStyle/>
          <a:p>
            <a:pPr>
              <a:lnSpc>
                <a:spcPct val="112000"/>
              </a:lnSpc>
              <a:spcAft>
                <a:spcPts val="0"/>
              </a:spcAft>
            </a:pPr>
            <a:r>
              <a:rPr sz="1019" b="0" i="0">
                <a:solidFill>
                  <a:srgbClr val="1E3B32"/>
                </a:solidFill>
                <a:latin typeface="Arial"/>
              </a:rPr>
              <a:t>Reuse or new brick</a:t>
            </a:r>
          </a:p>
        </p:txBody>
      </p:sp>
      <p:cxnSp>
        <p:nvCxnSpPr>
          <p:cNvPr id="30" name="line"/>
          <p:cNvCxnSpPr/>
          <p:nvPr/>
        </p:nvCxnSpPr>
        <p:spPr>
          <a:xfrm>
            <a:off x="3264408" y="4443984"/>
            <a:ext cx="0" cy="64008"/>
          </a:xfrm>
          <a:prstGeom prst="line">
            <a:avLst/>
          </a:prstGeom>
          <a:ln w="15240">
            <a:solidFill>
              <a:srgbClr val="8E4E22"/>
            </a:solidFill>
            <a:tailEnd type="triangle"/>
          </a:ln>
        </p:spPr>
        <p:style>
          <a:lnRef idx="2">
            <a:schemeClr val="accent1"/>
          </a:lnRef>
          <a:fillRef idx="0">
            <a:schemeClr val="accent1"/>
          </a:fillRef>
          <a:effectRef idx="0">
            <a:schemeClr val="accent1"/>
          </a:effectRef>
          <a:fontRef idx="minor">
            <a:schemeClr val="tx1"/>
          </a:fontRef>
        </p:style>
      </p:cxnSp>
      <p:sp>
        <p:nvSpPr>
          <p:cNvPr id="31" name="shape"/>
          <p:cNvSpPr/>
          <p:nvPr/>
        </p:nvSpPr>
        <p:spPr>
          <a:xfrm>
            <a:off x="2551176" y="4535424"/>
            <a:ext cx="1426464" cy="228600"/>
          </a:xfrm>
          <a:prstGeom prst="roundRect">
            <a:avLst>
              <a:gd name="adj" fmla="val 10000"/>
            </a:avLst>
          </a:prstGeom>
          <a:solidFill>
            <a:srgbClr val="F3D8B8"/>
          </a:solidFill>
          <a:ln w="8890">
            <a:solidFill>
              <a:srgbClr val="F3D8B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Human approves"/>
          <p:cNvSpPr txBox="1"/>
          <p:nvPr/>
        </p:nvSpPr>
        <p:spPr>
          <a:xfrm>
            <a:off x="2615184" y="4553712"/>
            <a:ext cx="1298448" cy="192024"/>
          </a:xfrm>
          <a:prstGeom prst="rect">
            <a:avLst/>
          </a:prstGeom>
          <a:noFill/>
        </p:spPr>
        <p:txBody>
          <a:bodyPr wrap="square" lIns="0" rIns="0" tIns="0" bIns="0" anchor="t">
            <a:spAutoFit/>
          </a:bodyPr>
          <a:lstStyle/>
          <a:p>
            <a:pPr>
              <a:lnSpc>
                <a:spcPct val="112000"/>
              </a:lnSpc>
              <a:spcAft>
                <a:spcPts val="0"/>
              </a:spcAft>
            </a:pPr>
            <a:r>
              <a:rPr sz="1050" b="1" i="0">
                <a:solidFill>
                  <a:srgbClr val="8E4E22"/>
                </a:solidFill>
                <a:latin typeface="Arial"/>
              </a:rPr>
              <a:t>Human approves</a:t>
            </a:r>
          </a:p>
        </p:txBody>
      </p:sp>
      <p:cxnSp>
        <p:nvCxnSpPr>
          <p:cNvPr id="33" name="line"/>
          <p:cNvCxnSpPr/>
          <p:nvPr/>
        </p:nvCxnSpPr>
        <p:spPr>
          <a:xfrm>
            <a:off x="4114800" y="3611880"/>
            <a:ext cx="182880" cy="0"/>
          </a:xfrm>
          <a:prstGeom prst="line">
            <a:avLst/>
          </a:prstGeom>
          <a:ln w="13970">
            <a:solidFill>
              <a:srgbClr val="1E3B32"/>
            </a:solidFill>
            <a:tailEnd type="triangle"/>
          </a:ln>
        </p:spPr>
        <p:style>
          <a:lnRef idx="2">
            <a:schemeClr val="accent1"/>
          </a:lnRef>
          <a:fillRef idx="0">
            <a:schemeClr val="accent1"/>
          </a:fillRef>
          <a:effectRef idx="0">
            <a:schemeClr val="accent1"/>
          </a:effectRef>
          <a:fontRef idx="minor">
            <a:schemeClr val="tx1"/>
          </a:fontRef>
        </p:style>
      </p:cxnSp>
      <p:sp>
        <p:nvSpPr>
          <p:cNvPr id="34" name="stage-2"/>
          <p:cNvSpPr/>
          <p:nvPr/>
        </p:nvSpPr>
        <p:spPr>
          <a:xfrm>
            <a:off x="4315968" y="2240280"/>
            <a:ext cx="1664208" cy="2560320"/>
          </a:xfrm>
          <a:prstGeom prst="roundRect">
            <a:avLst>
              <a:gd name="adj" fmla="val 10000"/>
            </a:avLst>
          </a:prstGeom>
          <a:solidFill>
            <a:srgbClr val="F4F6F0"/>
          </a:solidFill>
          <a:ln w="8890">
            <a:solidFill>
              <a:srgbClr val="CED9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shape"/>
          <p:cNvSpPr/>
          <p:nvPr/>
        </p:nvSpPr>
        <p:spPr>
          <a:xfrm>
            <a:off x="4471416" y="2404872"/>
            <a:ext cx="512064" cy="512064"/>
          </a:xfrm>
          <a:prstGeom prst="roundRect">
            <a:avLst>
              <a:gd name="adj" fmla="val 10000"/>
            </a:avLst>
          </a:prstGeom>
          <a:solidFill>
            <a:srgbClr val="E3EBDD"/>
          </a:solidFill>
          <a:ln w="8890">
            <a:solidFill>
              <a:srgbClr val="E3EBD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icon-bricks"/>
          <p:cNvSpPr/>
          <p:nvPr/>
        </p:nvSpPr>
        <p:spPr>
          <a:xfrm>
            <a:off x="4566147" y="2664744"/>
            <a:ext cx="299557" cy="115214"/>
          </a:xfrm>
          <a:prstGeom prst="rect">
            <a:avLst/>
          </a:prstGeom>
          <a:solidFill>
            <a:srgbClr val="E3EBDD"/>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icon-bricks"/>
          <p:cNvSpPr/>
          <p:nvPr/>
        </p:nvSpPr>
        <p:spPr>
          <a:xfrm>
            <a:off x="4566147" y="2622499"/>
            <a:ext cx="53766" cy="42245"/>
          </a:xfrm>
          <a:prstGeom prst="rect">
            <a:avLst/>
          </a:prstGeom>
          <a:solidFill>
            <a:srgbClr val="E3EBDD"/>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icon-bricks"/>
          <p:cNvSpPr/>
          <p:nvPr/>
        </p:nvSpPr>
        <p:spPr>
          <a:xfrm>
            <a:off x="4754331" y="2622499"/>
            <a:ext cx="53766" cy="42245"/>
          </a:xfrm>
          <a:prstGeom prst="rect">
            <a:avLst/>
          </a:prstGeom>
          <a:solidFill>
            <a:srgbClr val="E3EBDD"/>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icon-bricks"/>
          <p:cNvSpPr/>
          <p:nvPr/>
        </p:nvSpPr>
        <p:spPr>
          <a:xfrm>
            <a:off x="4639116" y="2538008"/>
            <a:ext cx="157459" cy="84490"/>
          </a:xfrm>
          <a:prstGeom prst="rect">
            <a:avLst/>
          </a:prstGeom>
          <a:solidFill>
            <a:srgbClr val="E3EBDD"/>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icon-bricks"/>
          <p:cNvSpPr/>
          <p:nvPr/>
        </p:nvSpPr>
        <p:spPr>
          <a:xfrm>
            <a:off x="4654478" y="2499603"/>
            <a:ext cx="46085" cy="38404"/>
          </a:xfrm>
          <a:prstGeom prst="rect">
            <a:avLst/>
          </a:prstGeom>
          <a:solidFill>
            <a:srgbClr val="E3EBDD"/>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icon-bricks"/>
          <p:cNvSpPr/>
          <p:nvPr/>
        </p:nvSpPr>
        <p:spPr>
          <a:xfrm>
            <a:off x="4738969" y="2499603"/>
            <a:ext cx="46085" cy="38404"/>
          </a:xfrm>
          <a:prstGeom prst="rect">
            <a:avLst/>
          </a:prstGeom>
          <a:solidFill>
            <a:srgbClr val="E3EBDD"/>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03"/>
          <p:cNvSpPr txBox="1"/>
          <p:nvPr/>
        </p:nvSpPr>
        <p:spPr>
          <a:xfrm>
            <a:off x="5513831" y="2514600"/>
            <a:ext cx="292608" cy="228600"/>
          </a:xfrm>
          <a:prstGeom prst="rect">
            <a:avLst/>
          </a:prstGeom>
          <a:noFill/>
        </p:spPr>
        <p:txBody>
          <a:bodyPr wrap="square" lIns="0" rIns="0" tIns="0" bIns="0" anchor="t">
            <a:spAutoFit/>
          </a:bodyPr>
          <a:lstStyle/>
          <a:p>
            <a:pPr>
              <a:lnSpc>
                <a:spcPct val="112000"/>
              </a:lnSpc>
              <a:spcAft>
                <a:spcPts val="0"/>
              </a:spcAft>
            </a:pPr>
            <a:r>
              <a:rPr sz="1200" b="1" i="0">
                <a:solidFill>
                  <a:srgbClr val="586D61"/>
                </a:solidFill>
                <a:latin typeface="Arial"/>
              </a:rPr>
              <a:t>03</a:t>
            </a:r>
          </a:p>
        </p:txBody>
      </p:sp>
      <p:sp>
        <p:nvSpPr>
          <p:cNvPr id="43" name="FEATURE&#10;ENGINEERING&#10;AGENT"/>
          <p:cNvSpPr txBox="1"/>
          <p:nvPr/>
        </p:nvSpPr>
        <p:spPr>
          <a:xfrm>
            <a:off x="4471416" y="3026664"/>
            <a:ext cx="1353312" cy="548640"/>
          </a:xfrm>
          <a:prstGeom prst="rect">
            <a:avLst/>
          </a:prstGeom>
          <a:noFill/>
        </p:spPr>
        <p:txBody>
          <a:bodyPr wrap="square" lIns="0" rIns="0" tIns="0" bIns="0" anchor="t">
            <a:spAutoFit/>
          </a:bodyPr>
          <a:lstStyle/>
          <a:p>
            <a:pPr>
              <a:lnSpc>
                <a:spcPct val="112000"/>
              </a:lnSpc>
              <a:spcAft>
                <a:spcPts val="0"/>
              </a:spcAft>
            </a:pPr>
            <a:r>
              <a:rPr sz="1090" b="1" i="0">
                <a:solidFill>
                  <a:srgbClr val="1E3B32"/>
                </a:solidFill>
                <a:latin typeface="Arial"/>
              </a:rPr>
              <a:t>FEATURE</a:t>
            </a:r>
          </a:p>
          <a:p>
            <a:pPr>
              <a:lnSpc>
                <a:spcPct val="112000"/>
              </a:lnSpc>
              <a:spcAft>
                <a:spcPts val="0"/>
              </a:spcAft>
            </a:pPr>
            <a:r>
              <a:rPr sz="1090" b="1" i="0">
                <a:solidFill>
                  <a:srgbClr val="1E3B32"/>
                </a:solidFill>
                <a:latin typeface="Arial"/>
              </a:rPr>
              <a:t>ENGINEERING</a:t>
            </a:r>
          </a:p>
          <a:p>
            <a:pPr>
              <a:lnSpc>
                <a:spcPct val="112000"/>
              </a:lnSpc>
              <a:spcAft>
                <a:spcPts val="0"/>
              </a:spcAft>
            </a:pPr>
            <a:r>
              <a:rPr sz="1090" b="1" i="0">
                <a:solidFill>
                  <a:srgbClr val="1E3B32"/>
                </a:solidFill>
                <a:latin typeface="Arial"/>
              </a:rPr>
              <a:t>AGENT</a:t>
            </a:r>
          </a:p>
        </p:txBody>
      </p:sp>
      <p:sp>
        <p:nvSpPr>
          <p:cNvPr id="44" name="Features"/>
          <p:cNvSpPr txBox="1"/>
          <p:nvPr/>
        </p:nvSpPr>
        <p:spPr>
          <a:xfrm>
            <a:off x="4471416" y="3630168"/>
            <a:ext cx="1353312" cy="320040"/>
          </a:xfrm>
          <a:prstGeom prst="rect">
            <a:avLst/>
          </a:prstGeom>
          <a:noFill/>
        </p:spPr>
        <p:txBody>
          <a:bodyPr wrap="square" lIns="0" rIns="0" tIns="0" bIns="0" anchor="t">
            <a:spAutoFit/>
          </a:bodyPr>
          <a:lstStyle/>
          <a:p>
            <a:pPr>
              <a:lnSpc>
                <a:spcPct val="112000"/>
              </a:lnSpc>
              <a:spcAft>
                <a:spcPts val="0"/>
              </a:spcAft>
            </a:pPr>
            <a:r>
              <a:rPr sz="1750" b="1" i="0">
                <a:solidFill>
                  <a:srgbClr val="1E3B32"/>
                </a:solidFill>
                <a:latin typeface="Arial"/>
              </a:rPr>
              <a:t>Features</a:t>
            </a:r>
          </a:p>
        </p:txBody>
      </p:sp>
      <p:sp>
        <p:nvSpPr>
          <p:cNvPr id="45" name="Simulate bricks&#10;Engineer features&#10;Measured token labels"/>
          <p:cNvSpPr txBox="1"/>
          <p:nvPr/>
        </p:nvSpPr>
        <p:spPr>
          <a:xfrm>
            <a:off x="4471416" y="4087368"/>
            <a:ext cx="1353312" cy="603504"/>
          </a:xfrm>
          <a:prstGeom prst="rect">
            <a:avLst/>
          </a:prstGeom>
          <a:noFill/>
        </p:spPr>
        <p:txBody>
          <a:bodyPr wrap="square" lIns="0" rIns="0" tIns="0" bIns="0" anchor="t">
            <a:spAutoFit/>
          </a:bodyPr>
          <a:lstStyle/>
          <a:p>
            <a:pPr>
              <a:lnSpc>
                <a:spcPct val="112000"/>
              </a:lnSpc>
              <a:spcAft>
                <a:spcPts val="0"/>
              </a:spcAft>
            </a:pPr>
            <a:r>
              <a:rPr sz="1040" b="0" i="0">
                <a:solidFill>
                  <a:srgbClr val="1E3B32"/>
                </a:solidFill>
                <a:latin typeface="Arial"/>
              </a:rPr>
              <a:t>Simulate bricks</a:t>
            </a:r>
          </a:p>
          <a:p>
            <a:pPr>
              <a:lnSpc>
                <a:spcPct val="112000"/>
              </a:lnSpc>
              <a:spcAft>
                <a:spcPts val="0"/>
              </a:spcAft>
            </a:pPr>
            <a:r>
              <a:rPr sz="1040" b="0" i="0">
                <a:solidFill>
                  <a:srgbClr val="1E3B32"/>
                </a:solidFill>
                <a:latin typeface="Arial"/>
              </a:rPr>
              <a:t>Engineer features</a:t>
            </a:r>
          </a:p>
          <a:p>
            <a:pPr>
              <a:lnSpc>
                <a:spcPct val="112000"/>
              </a:lnSpc>
              <a:spcAft>
                <a:spcPts val="0"/>
              </a:spcAft>
            </a:pPr>
            <a:r>
              <a:rPr sz="1040" b="0" i="0">
                <a:solidFill>
                  <a:srgbClr val="1E3B32"/>
                </a:solidFill>
                <a:latin typeface="Arial"/>
              </a:rPr>
              <a:t>Measured token labels</a:t>
            </a:r>
          </a:p>
        </p:txBody>
      </p:sp>
      <p:cxnSp>
        <p:nvCxnSpPr>
          <p:cNvPr id="46" name="line"/>
          <p:cNvCxnSpPr/>
          <p:nvPr/>
        </p:nvCxnSpPr>
        <p:spPr>
          <a:xfrm>
            <a:off x="5998464" y="3611880"/>
            <a:ext cx="182880" cy="0"/>
          </a:xfrm>
          <a:prstGeom prst="line">
            <a:avLst/>
          </a:prstGeom>
          <a:ln w="13970">
            <a:solidFill>
              <a:srgbClr val="1E3B32"/>
            </a:solidFill>
            <a:tailEnd type="triangle"/>
          </a:ln>
        </p:spPr>
        <p:style>
          <a:lnRef idx="2">
            <a:schemeClr val="accent1"/>
          </a:lnRef>
          <a:fillRef idx="0">
            <a:schemeClr val="accent1"/>
          </a:fillRef>
          <a:effectRef idx="0">
            <a:schemeClr val="accent1"/>
          </a:effectRef>
          <a:fontRef idx="minor">
            <a:schemeClr val="tx1"/>
          </a:fontRef>
        </p:style>
      </p:cxnSp>
      <p:sp>
        <p:nvSpPr>
          <p:cNvPr id="47" name="stage-3"/>
          <p:cNvSpPr/>
          <p:nvPr/>
        </p:nvSpPr>
        <p:spPr>
          <a:xfrm>
            <a:off x="6199631" y="2240280"/>
            <a:ext cx="1664208" cy="2560320"/>
          </a:xfrm>
          <a:prstGeom prst="roundRect">
            <a:avLst>
              <a:gd name="adj" fmla="val 10000"/>
            </a:avLst>
          </a:prstGeom>
          <a:solidFill>
            <a:srgbClr val="F4F6F0"/>
          </a:solidFill>
          <a:ln w="8890">
            <a:solidFill>
              <a:srgbClr val="CED9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shape"/>
          <p:cNvSpPr/>
          <p:nvPr/>
        </p:nvSpPr>
        <p:spPr>
          <a:xfrm>
            <a:off x="6355079" y="2404872"/>
            <a:ext cx="512064" cy="512064"/>
          </a:xfrm>
          <a:prstGeom prst="roundRect">
            <a:avLst>
              <a:gd name="adj" fmla="val 10000"/>
            </a:avLst>
          </a:prstGeom>
          <a:solidFill>
            <a:srgbClr val="E3EBDD"/>
          </a:solidFill>
          <a:ln w="8890">
            <a:solidFill>
              <a:srgbClr val="E3EBD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line"/>
          <p:cNvCxnSpPr/>
          <p:nvPr/>
        </p:nvCxnSpPr>
        <p:spPr>
          <a:xfrm>
            <a:off x="6507419" y="2549530"/>
            <a:ext cx="195864" cy="103693"/>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50" name="line"/>
          <p:cNvCxnSpPr/>
          <p:nvPr/>
        </p:nvCxnSpPr>
        <p:spPr>
          <a:xfrm flipV="1">
            <a:off x="6507419" y="2653223"/>
            <a:ext cx="195864" cy="119054"/>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51" name="line"/>
          <p:cNvCxnSpPr/>
          <p:nvPr/>
        </p:nvCxnSpPr>
        <p:spPr>
          <a:xfrm>
            <a:off x="6507419" y="2549530"/>
            <a:ext cx="0" cy="222747"/>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sp>
        <p:nvSpPr>
          <p:cNvPr id="52" name="icon-network"/>
          <p:cNvSpPr/>
          <p:nvPr/>
        </p:nvSpPr>
        <p:spPr>
          <a:xfrm>
            <a:off x="6461333" y="2503444"/>
            <a:ext cx="92171" cy="92171"/>
          </a:xfrm>
          <a:prstGeom prst="ellipse">
            <a:avLst/>
          </a:prstGeom>
          <a:solidFill>
            <a:srgbClr val="E3EBDD"/>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icon-network"/>
          <p:cNvSpPr/>
          <p:nvPr/>
        </p:nvSpPr>
        <p:spPr>
          <a:xfrm>
            <a:off x="6461333" y="2726192"/>
            <a:ext cx="92171" cy="92171"/>
          </a:xfrm>
          <a:prstGeom prst="ellipse">
            <a:avLst/>
          </a:prstGeom>
          <a:solidFill>
            <a:srgbClr val="E3EBDD"/>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icon-network"/>
          <p:cNvSpPr/>
          <p:nvPr/>
        </p:nvSpPr>
        <p:spPr>
          <a:xfrm>
            <a:off x="6661038" y="2607137"/>
            <a:ext cx="92171" cy="92171"/>
          </a:xfrm>
          <a:prstGeom prst="ellipse">
            <a:avLst/>
          </a:prstGeom>
          <a:solidFill>
            <a:srgbClr val="E3EBDD"/>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04"/>
          <p:cNvSpPr txBox="1"/>
          <p:nvPr/>
        </p:nvSpPr>
        <p:spPr>
          <a:xfrm>
            <a:off x="7397496" y="2514600"/>
            <a:ext cx="292608" cy="228600"/>
          </a:xfrm>
          <a:prstGeom prst="rect">
            <a:avLst/>
          </a:prstGeom>
          <a:noFill/>
        </p:spPr>
        <p:txBody>
          <a:bodyPr wrap="square" lIns="0" rIns="0" tIns="0" bIns="0" anchor="t">
            <a:spAutoFit/>
          </a:bodyPr>
          <a:lstStyle/>
          <a:p>
            <a:pPr>
              <a:lnSpc>
                <a:spcPct val="112000"/>
              </a:lnSpc>
              <a:spcAft>
                <a:spcPts val="0"/>
              </a:spcAft>
            </a:pPr>
            <a:r>
              <a:rPr sz="1200" b="1" i="0">
                <a:solidFill>
                  <a:srgbClr val="586D61"/>
                </a:solidFill>
                <a:latin typeface="Arial"/>
              </a:rPr>
              <a:t>04</a:t>
            </a:r>
          </a:p>
        </p:txBody>
      </p:sp>
      <p:sp>
        <p:nvSpPr>
          <p:cNvPr id="56" name="MODEL TRAINING&#10;AGENT"/>
          <p:cNvSpPr txBox="1"/>
          <p:nvPr/>
        </p:nvSpPr>
        <p:spPr>
          <a:xfrm>
            <a:off x="6355079" y="3026664"/>
            <a:ext cx="1353312" cy="548640"/>
          </a:xfrm>
          <a:prstGeom prst="rect">
            <a:avLst/>
          </a:prstGeom>
          <a:noFill/>
        </p:spPr>
        <p:txBody>
          <a:bodyPr wrap="square" lIns="0" rIns="0" tIns="0" bIns="0" anchor="t">
            <a:spAutoFit/>
          </a:bodyPr>
          <a:lstStyle/>
          <a:p>
            <a:pPr>
              <a:lnSpc>
                <a:spcPct val="112000"/>
              </a:lnSpc>
              <a:spcAft>
                <a:spcPts val="0"/>
              </a:spcAft>
            </a:pPr>
            <a:r>
              <a:rPr sz="1090" b="1" i="0">
                <a:solidFill>
                  <a:srgbClr val="1E3B32"/>
                </a:solidFill>
                <a:latin typeface="Arial"/>
              </a:rPr>
              <a:t>MODEL TRAINING</a:t>
            </a:r>
          </a:p>
          <a:p>
            <a:pPr>
              <a:lnSpc>
                <a:spcPct val="112000"/>
              </a:lnSpc>
              <a:spcAft>
                <a:spcPts val="0"/>
              </a:spcAft>
            </a:pPr>
            <a:r>
              <a:rPr sz="1090" b="1" i="0">
                <a:solidFill>
                  <a:srgbClr val="1E3B32"/>
                </a:solidFill>
                <a:latin typeface="Arial"/>
              </a:rPr>
              <a:t>AGENT</a:t>
            </a:r>
          </a:p>
        </p:txBody>
      </p:sp>
      <p:sp>
        <p:nvSpPr>
          <p:cNvPr id="57" name="Train"/>
          <p:cNvSpPr txBox="1"/>
          <p:nvPr/>
        </p:nvSpPr>
        <p:spPr>
          <a:xfrm>
            <a:off x="6355079" y="3630168"/>
            <a:ext cx="1353312" cy="320040"/>
          </a:xfrm>
          <a:prstGeom prst="rect">
            <a:avLst/>
          </a:prstGeom>
          <a:noFill/>
        </p:spPr>
        <p:txBody>
          <a:bodyPr wrap="square" lIns="0" rIns="0" tIns="0" bIns="0" anchor="t">
            <a:spAutoFit/>
          </a:bodyPr>
          <a:lstStyle/>
          <a:p>
            <a:pPr>
              <a:lnSpc>
                <a:spcPct val="112000"/>
              </a:lnSpc>
              <a:spcAft>
                <a:spcPts val="0"/>
              </a:spcAft>
            </a:pPr>
            <a:r>
              <a:rPr sz="1750" b="1" i="0">
                <a:solidFill>
                  <a:srgbClr val="1E3B32"/>
                </a:solidFill>
                <a:latin typeface="Arial"/>
              </a:rPr>
              <a:t>Train</a:t>
            </a:r>
          </a:p>
        </p:txBody>
      </p:sp>
      <p:sp>
        <p:nvSpPr>
          <p:cNvPr id="58" name="Fit the predictor&#10;Validate + release"/>
          <p:cNvSpPr txBox="1"/>
          <p:nvPr/>
        </p:nvSpPr>
        <p:spPr>
          <a:xfrm>
            <a:off x="6355079" y="4087368"/>
            <a:ext cx="1353312" cy="603504"/>
          </a:xfrm>
          <a:prstGeom prst="rect">
            <a:avLst/>
          </a:prstGeom>
          <a:noFill/>
        </p:spPr>
        <p:txBody>
          <a:bodyPr wrap="square" lIns="0" rIns="0" tIns="0" bIns="0" anchor="t">
            <a:spAutoFit/>
          </a:bodyPr>
          <a:lstStyle/>
          <a:p>
            <a:pPr>
              <a:lnSpc>
                <a:spcPct val="112000"/>
              </a:lnSpc>
              <a:spcAft>
                <a:spcPts val="0"/>
              </a:spcAft>
            </a:pPr>
            <a:r>
              <a:rPr sz="1040" b="0" i="0">
                <a:solidFill>
                  <a:srgbClr val="1E3B32"/>
                </a:solidFill>
                <a:latin typeface="Arial"/>
              </a:rPr>
              <a:t>Fit the predictor</a:t>
            </a:r>
          </a:p>
          <a:p>
            <a:pPr>
              <a:lnSpc>
                <a:spcPct val="112000"/>
              </a:lnSpc>
              <a:spcAft>
                <a:spcPts val="0"/>
              </a:spcAft>
            </a:pPr>
            <a:r>
              <a:rPr sz="1040" b="0" i="0">
                <a:solidFill>
                  <a:srgbClr val="1E3B32"/>
                </a:solidFill>
                <a:latin typeface="Arial"/>
              </a:rPr>
              <a:t>Validate + release</a:t>
            </a:r>
          </a:p>
        </p:txBody>
      </p:sp>
      <p:cxnSp>
        <p:nvCxnSpPr>
          <p:cNvPr id="59" name="line"/>
          <p:cNvCxnSpPr/>
          <p:nvPr/>
        </p:nvCxnSpPr>
        <p:spPr>
          <a:xfrm>
            <a:off x="7882127" y="3611880"/>
            <a:ext cx="182881" cy="0"/>
          </a:xfrm>
          <a:prstGeom prst="line">
            <a:avLst/>
          </a:prstGeom>
          <a:ln w="13970">
            <a:solidFill>
              <a:srgbClr val="1E3B32"/>
            </a:solidFill>
            <a:tailEnd type="triangle"/>
          </a:ln>
        </p:spPr>
        <p:style>
          <a:lnRef idx="2">
            <a:schemeClr val="accent1"/>
          </a:lnRef>
          <a:fillRef idx="0">
            <a:schemeClr val="accent1"/>
          </a:fillRef>
          <a:effectRef idx="0">
            <a:schemeClr val="accent1"/>
          </a:effectRef>
          <a:fontRef idx="minor">
            <a:schemeClr val="tx1"/>
          </a:fontRef>
        </p:style>
      </p:cxnSp>
      <p:sp>
        <p:nvSpPr>
          <p:cNvPr id="60" name="stage-4"/>
          <p:cNvSpPr/>
          <p:nvPr/>
        </p:nvSpPr>
        <p:spPr>
          <a:xfrm>
            <a:off x="8083296" y="2240280"/>
            <a:ext cx="1664208" cy="2560320"/>
          </a:xfrm>
          <a:prstGeom prst="roundRect">
            <a:avLst>
              <a:gd name="adj" fmla="val 10000"/>
            </a:avLst>
          </a:prstGeom>
          <a:solidFill>
            <a:srgbClr val="F4F6F0"/>
          </a:solidFill>
          <a:ln w="8890">
            <a:solidFill>
              <a:srgbClr val="CED9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shape"/>
          <p:cNvSpPr/>
          <p:nvPr/>
        </p:nvSpPr>
        <p:spPr>
          <a:xfrm>
            <a:off x="8238744" y="2404872"/>
            <a:ext cx="512064" cy="512064"/>
          </a:xfrm>
          <a:prstGeom prst="roundRect">
            <a:avLst>
              <a:gd name="adj" fmla="val 10000"/>
            </a:avLst>
          </a:prstGeom>
          <a:solidFill>
            <a:srgbClr val="E3EBDD"/>
          </a:solidFill>
          <a:ln w="8890">
            <a:solidFill>
              <a:srgbClr val="E3EBD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icon-prediction"/>
          <p:cNvSpPr/>
          <p:nvPr/>
        </p:nvSpPr>
        <p:spPr>
          <a:xfrm>
            <a:off x="8341156" y="2514965"/>
            <a:ext cx="291876" cy="268833"/>
          </a:xfrm>
          <a:prstGeom prst="rect">
            <a:avLst/>
          </a:prstGeom>
          <a:solidFill>
            <a:srgbClr val="E3EBDD"/>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3" name="line"/>
          <p:cNvCxnSpPr/>
          <p:nvPr/>
        </p:nvCxnSpPr>
        <p:spPr>
          <a:xfrm flipV="1">
            <a:off x="8387242" y="2649382"/>
            <a:ext cx="69129" cy="72969"/>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64" name="line"/>
          <p:cNvCxnSpPr/>
          <p:nvPr/>
        </p:nvCxnSpPr>
        <p:spPr>
          <a:xfrm>
            <a:off x="8456371" y="2649382"/>
            <a:ext cx="61447" cy="23043"/>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65" name="line"/>
          <p:cNvCxnSpPr/>
          <p:nvPr/>
        </p:nvCxnSpPr>
        <p:spPr>
          <a:xfrm flipV="1">
            <a:off x="8517818" y="2576413"/>
            <a:ext cx="80650" cy="96012"/>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66" name="line"/>
          <p:cNvCxnSpPr/>
          <p:nvPr/>
        </p:nvCxnSpPr>
        <p:spPr>
          <a:xfrm>
            <a:off x="8529340" y="2576413"/>
            <a:ext cx="69128" cy="0"/>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67" name="line"/>
          <p:cNvCxnSpPr/>
          <p:nvPr/>
        </p:nvCxnSpPr>
        <p:spPr>
          <a:xfrm>
            <a:off x="8598468" y="2576413"/>
            <a:ext cx="0" cy="61448"/>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sp>
        <p:nvSpPr>
          <p:cNvPr id="68" name="05"/>
          <p:cNvSpPr txBox="1"/>
          <p:nvPr/>
        </p:nvSpPr>
        <p:spPr>
          <a:xfrm>
            <a:off x="9281160" y="2514600"/>
            <a:ext cx="292608" cy="228600"/>
          </a:xfrm>
          <a:prstGeom prst="rect">
            <a:avLst/>
          </a:prstGeom>
          <a:noFill/>
        </p:spPr>
        <p:txBody>
          <a:bodyPr wrap="square" lIns="0" rIns="0" tIns="0" bIns="0" anchor="t">
            <a:spAutoFit/>
          </a:bodyPr>
          <a:lstStyle/>
          <a:p>
            <a:pPr>
              <a:lnSpc>
                <a:spcPct val="112000"/>
              </a:lnSpc>
              <a:spcAft>
                <a:spcPts val="0"/>
              </a:spcAft>
            </a:pPr>
            <a:r>
              <a:rPr sz="1200" b="1" i="0">
                <a:solidFill>
                  <a:srgbClr val="586D61"/>
                </a:solidFill>
                <a:latin typeface="Arial"/>
              </a:rPr>
              <a:t>05</a:t>
            </a:r>
          </a:p>
        </p:txBody>
      </p:sp>
      <p:sp>
        <p:nvSpPr>
          <p:cNvPr id="69" name="PREDICTIVE&#10;MODEL"/>
          <p:cNvSpPr txBox="1"/>
          <p:nvPr/>
        </p:nvSpPr>
        <p:spPr>
          <a:xfrm>
            <a:off x="8238744" y="3026664"/>
            <a:ext cx="1353312" cy="548640"/>
          </a:xfrm>
          <a:prstGeom prst="rect">
            <a:avLst/>
          </a:prstGeom>
          <a:noFill/>
        </p:spPr>
        <p:txBody>
          <a:bodyPr wrap="square" lIns="0" rIns="0" tIns="0" bIns="0" anchor="t">
            <a:spAutoFit/>
          </a:bodyPr>
          <a:lstStyle/>
          <a:p>
            <a:pPr>
              <a:lnSpc>
                <a:spcPct val="112000"/>
              </a:lnSpc>
              <a:spcAft>
                <a:spcPts val="0"/>
              </a:spcAft>
            </a:pPr>
            <a:r>
              <a:rPr sz="1090" b="1" i="0">
                <a:solidFill>
                  <a:srgbClr val="1E3B32"/>
                </a:solidFill>
                <a:latin typeface="Arial"/>
              </a:rPr>
              <a:t>PREDICTIVE</a:t>
            </a:r>
          </a:p>
          <a:p>
            <a:pPr>
              <a:lnSpc>
                <a:spcPct val="112000"/>
              </a:lnSpc>
              <a:spcAft>
                <a:spcPts val="0"/>
              </a:spcAft>
            </a:pPr>
            <a:r>
              <a:rPr sz="1090" b="1" i="0">
                <a:solidFill>
                  <a:srgbClr val="1E3B32"/>
                </a:solidFill>
                <a:latin typeface="Arial"/>
              </a:rPr>
              <a:t>MODEL</a:t>
            </a:r>
          </a:p>
        </p:txBody>
      </p:sp>
      <p:sp>
        <p:nvSpPr>
          <p:cNvPr id="70" name="Predict"/>
          <p:cNvSpPr txBox="1"/>
          <p:nvPr/>
        </p:nvSpPr>
        <p:spPr>
          <a:xfrm>
            <a:off x="8238744" y="3630168"/>
            <a:ext cx="1353312" cy="320040"/>
          </a:xfrm>
          <a:prstGeom prst="rect">
            <a:avLst/>
          </a:prstGeom>
          <a:noFill/>
        </p:spPr>
        <p:txBody>
          <a:bodyPr wrap="square" lIns="0" rIns="0" tIns="0" bIns="0" anchor="t">
            <a:spAutoFit/>
          </a:bodyPr>
          <a:lstStyle/>
          <a:p>
            <a:pPr>
              <a:lnSpc>
                <a:spcPct val="112000"/>
              </a:lnSpc>
              <a:spcAft>
                <a:spcPts val="0"/>
              </a:spcAft>
            </a:pPr>
            <a:r>
              <a:rPr sz="1750" b="1" i="0">
                <a:solidFill>
                  <a:srgbClr val="1E3B32"/>
                </a:solidFill>
                <a:latin typeface="Arial"/>
              </a:rPr>
              <a:t>Predict</a:t>
            </a:r>
          </a:p>
        </p:txBody>
      </p:sp>
      <p:sp>
        <p:nvSpPr>
          <p:cNvPr id="71" name="Predict tokens&#10;Estimate staffing&#10;Project ROI"/>
          <p:cNvSpPr txBox="1"/>
          <p:nvPr/>
        </p:nvSpPr>
        <p:spPr>
          <a:xfrm>
            <a:off x="8238744" y="4087368"/>
            <a:ext cx="1353312" cy="603504"/>
          </a:xfrm>
          <a:prstGeom prst="rect">
            <a:avLst/>
          </a:prstGeom>
          <a:noFill/>
        </p:spPr>
        <p:txBody>
          <a:bodyPr wrap="square" lIns="0" rIns="0" tIns="0" bIns="0" anchor="t">
            <a:spAutoFit/>
          </a:bodyPr>
          <a:lstStyle/>
          <a:p>
            <a:pPr>
              <a:lnSpc>
                <a:spcPct val="112000"/>
              </a:lnSpc>
              <a:spcAft>
                <a:spcPts val="0"/>
              </a:spcAft>
            </a:pPr>
            <a:r>
              <a:rPr sz="1040" b="0" i="0">
                <a:solidFill>
                  <a:srgbClr val="1E3B32"/>
                </a:solidFill>
                <a:latin typeface="Arial"/>
              </a:rPr>
              <a:t>Predict tokens</a:t>
            </a:r>
          </a:p>
          <a:p>
            <a:pPr>
              <a:lnSpc>
                <a:spcPct val="112000"/>
              </a:lnSpc>
              <a:spcAft>
                <a:spcPts val="0"/>
              </a:spcAft>
            </a:pPr>
            <a:r>
              <a:rPr sz="1040" b="0" i="0">
                <a:solidFill>
                  <a:srgbClr val="1E3B32"/>
                </a:solidFill>
                <a:latin typeface="Arial"/>
              </a:rPr>
              <a:t>Estimate staffing</a:t>
            </a:r>
          </a:p>
          <a:p>
            <a:pPr>
              <a:lnSpc>
                <a:spcPct val="112000"/>
              </a:lnSpc>
              <a:spcAft>
                <a:spcPts val="0"/>
              </a:spcAft>
            </a:pPr>
            <a:r>
              <a:rPr sz="1040" b="0" i="0">
                <a:solidFill>
                  <a:srgbClr val="1E3B32"/>
                </a:solidFill>
                <a:latin typeface="Arial"/>
              </a:rPr>
              <a:t>Project ROI</a:t>
            </a:r>
          </a:p>
        </p:txBody>
      </p:sp>
      <p:cxnSp>
        <p:nvCxnSpPr>
          <p:cNvPr id="72" name="line"/>
          <p:cNvCxnSpPr/>
          <p:nvPr/>
        </p:nvCxnSpPr>
        <p:spPr>
          <a:xfrm>
            <a:off x="9765792" y="3611880"/>
            <a:ext cx="182880" cy="0"/>
          </a:xfrm>
          <a:prstGeom prst="line">
            <a:avLst/>
          </a:prstGeom>
          <a:ln w="13970">
            <a:solidFill>
              <a:srgbClr val="1E3B32"/>
            </a:solidFill>
            <a:tailEnd type="triangle"/>
          </a:ln>
        </p:spPr>
        <p:style>
          <a:lnRef idx="2">
            <a:schemeClr val="accent1"/>
          </a:lnRef>
          <a:fillRef idx="0">
            <a:schemeClr val="accent1"/>
          </a:fillRef>
          <a:effectRef idx="0">
            <a:schemeClr val="accent1"/>
          </a:effectRef>
          <a:fontRef idx="minor">
            <a:schemeClr val="tx1"/>
          </a:fontRef>
        </p:style>
      </p:cxnSp>
      <p:sp>
        <p:nvSpPr>
          <p:cNvPr id="73" name="stage-5"/>
          <p:cNvSpPr/>
          <p:nvPr/>
        </p:nvSpPr>
        <p:spPr>
          <a:xfrm>
            <a:off x="9966960" y="2240280"/>
            <a:ext cx="1664208" cy="2560320"/>
          </a:xfrm>
          <a:prstGeom prst="roundRect">
            <a:avLst>
              <a:gd name="adj" fmla="val 10000"/>
            </a:avLst>
          </a:prstGeom>
          <a:solidFill>
            <a:srgbClr val="F4F6F0"/>
          </a:solidFill>
          <a:ln w="8890">
            <a:solidFill>
              <a:srgbClr val="CED9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shape"/>
          <p:cNvSpPr/>
          <p:nvPr/>
        </p:nvSpPr>
        <p:spPr>
          <a:xfrm>
            <a:off x="10122408" y="2404872"/>
            <a:ext cx="512064" cy="512064"/>
          </a:xfrm>
          <a:prstGeom prst="roundRect">
            <a:avLst>
              <a:gd name="adj" fmla="val 10000"/>
            </a:avLst>
          </a:prstGeom>
          <a:solidFill>
            <a:srgbClr val="E3EBDD"/>
          </a:solidFill>
          <a:ln w="8890">
            <a:solidFill>
              <a:srgbClr val="E3EBD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icon-feedback"/>
          <p:cNvSpPr/>
          <p:nvPr/>
        </p:nvSpPr>
        <p:spPr>
          <a:xfrm>
            <a:off x="10224820" y="2507284"/>
            <a:ext cx="291876" cy="215066"/>
          </a:xfrm>
          <a:prstGeom prst="rect">
            <a:avLst/>
          </a:prstGeom>
          <a:solidFill>
            <a:srgbClr val="E3EBDD"/>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6" name="line"/>
          <p:cNvCxnSpPr/>
          <p:nvPr/>
        </p:nvCxnSpPr>
        <p:spPr>
          <a:xfrm>
            <a:off x="10286268" y="2722351"/>
            <a:ext cx="0" cy="80650"/>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77" name="line"/>
          <p:cNvCxnSpPr/>
          <p:nvPr/>
        </p:nvCxnSpPr>
        <p:spPr>
          <a:xfrm flipV="1">
            <a:off x="10286268" y="2722351"/>
            <a:ext cx="84491" cy="80650"/>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78" name="line"/>
          <p:cNvCxnSpPr/>
          <p:nvPr/>
        </p:nvCxnSpPr>
        <p:spPr>
          <a:xfrm flipV="1">
            <a:off x="10278587" y="2618658"/>
            <a:ext cx="61448" cy="34565"/>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79" name="line"/>
          <p:cNvCxnSpPr/>
          <p:nvPr/>
        </p:nvCxnSpPr>
        <p:spPr>
          <a:xfrm>
            <a:off x="10340035" y="2618658"/>
            <a:ext cx="49926" cy="15362"/>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80" name="line"/>
          <p:cNvCxnSpPr/>
          <p:nvPr/>
        </p:nvCxnSpPr>
        <p:spPr>
          <a:xfrm flipV="1">
            <a:off x="10389961" y="2564892"/>
            <a:ext cx="76810" cy="69128"/>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sp>
        <p:nvSpPr>
          <p:cNvPr id="81" name="06"/>
          <p:cNvSpPr txBox="1"/>
          <p:nvPr/>
        </p:nvSpPr>
        <p:spPr>
          <a:xfrm>
            <a:off x="11164824" y="2514600"/>
            <a:ext cx="292608" cy="228600"/>
          </a:xfrm>
          <a:prstGeom prst="rect">
            <a:avLst/>
          </a:prstGeom>
          <a:noFill/>
        </p:spPr>
        <p:txBody>
          <a:bodyPr wrap="square" lIns="0" rIns="0" tIns="0" bIns="0" anchor="t">
            <a:spAutoFit/>
          </a:bodyPr>
          <a:lstStyle/>
          <a:p>
            <a:pPr>
              <a:lnSpc>
                <a:spcPct val="112000"/>
              </a:lnSpc>
              <a:spcAft>
                <a:spcPts val="0"/>
              </a:spcAft>
            </a:pPr>
            <a:r>
              <a:rPr sz="1200" b="1" i="0">
                <a:solidFill>
                  <a:srgbClr val="586D61"/>
                </a:solidFill>
                <a:latin typeface="Arial"/>
              </a:rPr>
              <a:t>06</a:t>
            </a:r>
          </a:p>
        </p:txBody>
      </p:sp>
      <p:sp>
        <p:nvSpPr>
          <p:cNvPr id="82" name="FEEDBACK&#10;AGENT"/>
          <p:cNvSpPr txBox="1"/>
          <p:nvPr/>
        </p:nvSpPr>
        <p:spPr>
          <a:xfrm>
            <a:off x="10122408" y="3026664"/>
            <a:ext cx="1353312" cy="548640"/>
          </a:xfrm>
          <a:prstGeom prst="rect">
            <a:avLst/>
          </a:prstGeom>
          <a:noFill/>
        </p:spPr>
        <p:txBody>
          <a:bodyPr wrap="square" lIns="0" rIns="0" tIns="0" bIns="0" anchor="t">
            <a:spAutoFit/>
          </a:bodyPr>
          <a:lstStyle/>
          <a:p>
            <a:pPr>
              <a:lnSpc>
                <a:spcPct val="112000"/>
              </a:lnSpc>
              <a:spcAft>
                <a:spcPts val="0"/>
              </a:spcAft>
            </a:pPr>
            <a:r>
              <a:rPr sz="1090" b="1" i="0">
                <a:solidFill>
                  <a:srgbClr val="1E3B32"/>
                </a:solidFill>
                <a:latin typeface="Arial"/>
              </a:rPr>
              <a:t>FEEDBACK</a:t>
            </a:r>
          </a:p>
          <a:p>
            <a:pPr>
              <a:lnSpc>
                <a:spcPct val="112000"/>
              </a:lnSpc>
              <a:spcAft>
                <a:spcPts val="0"/>
              </a:spcAft>
            </a:pPr>
            <a:r>
              <a:rPr sz="1090" b="1" i="0">
                <a:solidFill>
                  <a:srgbClr val="1E3B32"/>
                </a:solidFill>
                <a:latin typeface="Arial"/>
              </a:rPr>
              <a:t>AGENT</a:t>
            </a:r>
          </a:p>
        </p:txBody>
      </p:sp>
      <p:sp>
        <p:nvSpPr>
          <p:cNvPr id="83" name="Learn"/>
          <p:cNvSpPr txBox="1"/>
          <p:nvPr/>
        </p:nvSpPr>
        <p:spPr>
          <a:xfrm>
            <a:off x="10122408" y="3630168"/>
            <a:ext cx="1353312" cy="320040"/>
          </a:xfrm>
          <a:prstGeom prst="rect">
            <a:avLst/>
          </a:prstGeom>
          <a:noFill/>
        </p:spPr>
        <p:txBody>
          <a:bodyPr wrap="square" lIns="0" rIns="0" tIns="0" bIns="0" anchor="t">
            <a:spAutoFit/>
          </a:bodyPr>
          <a:lstStyle/>
          <a:p>
            <a:pPr>
              <a:lnSpc>
                <a:spcPct val="112000"/>
              </a:lnSpc>
              <a:spcAft>
                <a:spcPts val="0"/>
              </a:spcAft>
            </a:pPr>
            <a:r>
              <a:rPr sz="1750" b="1" i="0">
                <a:solidFill>
                  <a:srgbClr val="1E3B32"/>
                </a:solidFill>
                <a:latin typeface="Arial"/>
              </a:rPr>
              <a:t>Learn</a:t>
            </a:r>
          </a:p>
        </p:txBody>
      </p:sp>
      <p:sp>
        <p:nvSpPr>
          <p:cNvPr id="84" name="Actual usage&#10;Client impact + ROI"/>
          <p:cNvSpPr txBox="1"/>
          <p:nvPr/>
        </p:nvSpPr>
        <p:spPr>
          <a:xfrm>
            <a:off x="10122408" y="4087368"/>
            <a:ext cx="1353312" cy="603504"/>
          </a:xfrm>
          <a:prstGeom prst="rect">
            <a:avLst/>
          </a:prstGeom>
          <a:noFill/>
        </p:spPr>
        <p:txBody>
          <a:bodyPr wrap="square" lIns="0" rIns="0" tIns="0" bIns="0" anchor="t">
            <a:spAutoFit/>
          </a:bodyPr>
          <a:lstStyle/>
          <a:p>
            <a:pPr>
              <a:lnSpc>
                <a:spcPct val="112000"/>
              </a:lnSpc>
              <a:spcAft>
                <a:spcPts val="0"/>
              </a:spcAft>
            </a:pPr>
            <a:r>
              <a:rPr sz="1040" b="0" i="0">
                <a:solidFill>
                  <a:srgbClr val="1E3B32"/>
                </a:solidFill>
                <a:latin typeface="Arial"/>
              </a:rPr>
              <a:t>Actual usage</a:t>
            </a:r>
          </a:p>
          <a:p>
            <a:pPr>
              <a:lnSpc>
                <a:spcPct val="112000"/>
              </a:lnSpc>
              <a:spcAft>
                <a:spcPts val="0"/>
              </a:spcAft>
            </a:pPr>
            <a:r>
              <a:rPr sz="1040" b="0" i="0">
                <a:solidFill>
                  <a:srgbClr val="1E3B32"/>
                </a:solidFill>
                <a:latin typeface="Arial"/>
              </a:rPr>
              <a:t>Client impact + ROI</a:t>
            </a:r>
          </a:p>
        </p:txBody>
      </p:sp>
      <p:cxnSp>
        <p:nvCxnSpPr>
          <p:cNvPr id="85" name="line"/>
          <p:cNvCxnSpPr/>
          <p:nvPr/>
        </p:nvCxnSpPr>
        <p:spPr>
          <a:xfrm flipV="1">
            <a:off x="10799064" y="2011680"/>
            <a:ext cx="0" cy="182880"/>
          </a:xfrm>
          <a:prstGeom prst="line">
            <a:avLst/>
          </a:prstGeom>
          <a:ln w="34290">
            <a:solidFill>
              <a:srgbClr val="EB9149"/>
            </a:solidFill>
          </a:ln>
        </p:spPr>
        <p:style>
          <a:lnRef idx="2">
            <a:schemeClr val="accent1"/>
          </a:lnRef>
          <a:fillRef idx="0">
            <a:schemeClr val="accent1"/>
          </a:fillRef>
          <a:effectRef idx="0">
            <a:schemeClr val="accent1"/>
          </a:effectRef>
          <a:fontRef idx="minor">
            <a:schemeClr val="tx1"/>
          </a:fontRef>
        </p:style>
      </p:cxnSp>
      <p:cxnSp>
        <p:nvCxnSpPr>
          <p:cNvPr id="86" name="line"/>
          <p:cNvCxnSpPr/>
          <p:nvPr/>
        </p:nvCxnSpPr>
        <p:spPr>
          <a:xfrm flipH="1">
            <a:off x="1380744" y="2011680"/>
            <a:ext cx="9418320" cy="0"/>
          </a:xfrm>
          <a:prstGeom prst="line">
            <a:avLst/>
          </a:prstGeom>
          <a:ln w="34290">
            <a:solidFill>
              <a:srgbClr val="EB9149"/>
            </a:solidFill>
          </a:ln>
        </p:spPr>
        <p:style>
          <a:lnRef idx="2">
            <a:schemeClr val="accent1"/>
          </a:lnRef>
          <a:fillRef idx="0">
            <a:schemeClr val="accent1"/>
          </a:fillRef>
          <a:effectRef idx="0">
            <a:schemeClr val="accent1"/>
          </a:effectRef>
          <a:fontRef idx="minor">
            <a:schemeClr val="tx1"/>
          </a:fontRef>
        </p:style>
      </p:cxnSp>
      <p:cxnSp>
        <p:nvCxnSpPr>
          <p:cNvPr id="87" name="line"/>
          <p:cNvCxnSpPr/>
          <p:nvPr/>
        </p:nvCxnSpPr>
        <p:spPr>
          <a:xfrm>
            <a:off x="1380744" y="2011680"/>
            <a:ext cx="0" cy="182880"/>
          </a:xfrm>
          <a:prstGeom prst="line">
            <a:avLst/>
          </a:prstGeom>
          <a:ln w="34290">
            <a:solidFill>
              <a:srgbClr val="EB9149"/>
            </a:solidFill>
            <a:tailEnd type="triangle"/>
          </a:ln>
        </p:spPr>
        <p:style>
          <a:lnRef idx="2">
            <a:schemeClr val="accent1"/>
          </a:lnRef>
          <a:fillRef idx="0">
            <a:schemeClr val="accent1"/>
          </a:fillRef>
          <a:effectRef idx="0">
            <a:schemeClr val="accent1"/>
          </a:effectRef>
          <a:fontRef idx="minor">
            <a:schemeClr val="tx1"/>
          </a:fontRef>
        </p:style>
      </p:cxnSp>
      <p:sp>
        <p:nvSpPr>
          <p:cNvPr id="88" name="shape"/>
          <p:cNvSpPr/>
          <p:nvPr/>
        </p:nvSpPr>
        <p:spPr>
          <a:xfrm>
            <a:off x="4599432" y="1819656"/>
            <a:ext cx="2999232" cy="384048"/>
          </a:xfrm>
          <a:prstGeom prst="roundRect">
            <a:avLst>
              <a:gd name="adj" fmla="val 10000"/>
            </a:avLst>
          </a:prstGeom>
          <a:solidFill>
            <a:srgbClr val="FBEFE2"/>
          </a:solidFill>
          <a:ln w="8890">
            <a:solidFill>
              <a:srgbClr val="EDD7B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CYCLE BACK LOOP"/>
          <p:cNvSpPr txBox="1"/>
          <p:nvPr/>
        </p:nvSpPr>
        <p:spPr>
          <a:xfrm>
            <a:off x="4828032" y="1906524"/>
            <a:ext cx="2596896" cy="256032"/>
          </a:xfrm>
          <a:prstGeom prst="rect">
            <a:avLst/>
          </a:prstGeom>
          <a:noFill/>
        </p:spPr>
        <p:txBody>
          <a:bodyPr wrap="square" lIns="0" rIns="0" tIns="0" bIns="0" anchor="t">
            <a:spAutoFit/>
          </a:bodyPr>
          <a:lstStyle/>
          <a:p>
            <a:pPr>
              <a:lnSpc>
                <a:spcPct val="112000"/>
              </a:lnSpc>
              <a:spcAft>
                <a:spcPts val="0"/>
              </a:spcAft>
            </a:pPr>
            <a:r>
              <a:rPr sz="1450" b="1" i="0">
                <a:solidFill>
                  <a:srgbClr val="8E4E22"/>
                </a:solidFill>
                <a:latin typeface="Arial"/>
              </a:rPr>
              <a:t>CYCLE BACK LOOP</a:t>
            </a:r>
          </a:p>
        </p:txBody>
      </p:sp>
      <p:cxnSp>
        <p:nvCxnSpPr>
          <p:cNvPr id="90" name="prediction-output-stem"/>
          <p:cNvCxnSpPr/>
          <p:nvPr/>
        </p:nvCxnSpPr>
        <p:spPr>
          <a:xfrm>
            <a:off x="8915400" y="4800600"/>
            <a:ext cx="0" cy="201168"/>
          </a:xfrm>
          <a:prstGeom prst="line">
            <a:avLst/>
          </a:prstGeom>
          <a:ln w="12700">
            <a:solidFill>
              <a:srgbClr val="586D61"/>
            </a:solidFill>
          </a:ln>
        </p:spPr>
        <p:style>
          <a:lnRef idx="2">
            <a:schemeClr val="accent1"/>
          </a:lnRef>
          <a:fillRef idx="0">
            <a:schemeClr val="accent1"/>
          </a:fillRef>
          <a:effectRef idx="0">
            <a:schemeClr val="accent1"/>
          </a:effectRef>
          <a:fontRef idx="minor">
            <a:schemeClr val="tx1"/>
          </a:fontRef>
        </p:style>
      </p:cxnSp>
      <p:cxnSp>
        <p:nvCxnSpPr>
          <p:cNvPr id="91" name="line"/>
          <p:cNvCxnSpPr/>
          <p:nvPr/>
        </p:nvCxnSpPr>
        <p:spPr>
          <a:xfrm>
            <a:off x="3589020" y="5001768"/>
            <a:ext cx="6492240" cy="0"/>
          </a:xfrm>
          <a:prstGeom prst="line">
            <a:avLst/>
          </a:prstGeom>
          <a:ln w="12700">
            <a:solidFill>
              <a:srgbClr val="CED9CB"/>
            </a:solidFill>
          </a:ln>
        </p:spPr>
        <p:style>
          <a:lnRef idx="2">
            <a:schemeClr val="accent1"/>
          </a:lnRef>
          <a:fillRef idx="0">
            <a:schemeClr val="accent1"/>
          </a:fillRef>
          <a:effectRef idx="0">
            <a:schemeClr val="accent1"/>
          </a:effectRef>
          <a:fontRef idx="minor">
            <a:schemeClr val="tx1"/>
          </a:fontRef>
        </p:style>
      </p:cxnSp>
      <p:sp>
        <p:nvSpPr>
          <p:cNvPr id="92" name="PREDICTED&#10;OUTPUTS"/>
          <p:cNvSpPr txBox="1"/>
          <p:nvPr/>
        </p:nvSpPr>
        <p:spPr>
          <a:xfrm>
            <a:off x="548640" y="5413248"/>
            <a:ext cx="1371600" cy="411480"/>
          </a:xfrm>
          <a:prstGeom prst="rect">
            <a:avLst/>
          </a:prstGeom>
          <a:noFill/>
        </p:spPr>
        <p:txBody>
          <a:bodyPr wrap="square" lIns="0" rIns="0" tIns="0" bIns="0" anchor="t">
            <a:spAutoFit/>
          </a:bodyPr>
          <a:lstStyle/>
          <a:p>
            <a:pPr>
              <a:lnSpc>
                <a:spcPct val="112000"/>
              </a:lnSpc>
              <a:spcAft>
                <a:spcPts val="0"/>
              </a:spcAft>
            </a:pPr>
            <a:r>
              <a:rPr sz="1050" b="1" i="0">
                <a:solidFill>
                  <a:srgbClr val="586D61"/>
                </a:solidFill>
                <a:latin typeface="Arial"/>
              </a:rPr>
              <a:t>PREDICTED</a:t>
            </a:r>
          </a:p>
          <a:p>
            <a:pPr>
              <a:lnSpc>
                <a:spcPct val="112000"/>
              </a:lnSpc>
              <a:spcAft>
                <a:spcPts val="0"/>
              </a:spcAft>
            </a:pPr>
            <a:r>
              <a:rPr sz="1050" b="1" i="0">
                <a:solidFill>
                  <a:srgbClr val="586D61"/>
                </a:solidFill>
                <a:latin typeface="Arial"/>
              </a:rPr>
              <a:t>OUTPUTS</a:t>
            </a:r>
          </a:p>
        </p:txBody>
      </p:sp>
      <p:cxnSp>
        <p:nvCxnSpPr>
          <p:cNvPr id="93" name="line"/>
          <p:cNvCxnSpPr/>
          <p:nvPr/>
        </p:nvCxnSpPr>
        <p:spPr>
          <a:xfrm>
            <a:off x="3589020" y="5001768"/>
            <a:ext cx="0" cy="265176"/>
          </a:xfrm>
          <a:prstGeom prst="line">
            <a:avLst/>
          </a:prstGeom>
          <a:ln w="12700">
            <a:solidFill>
              <a:srgbClr val="586D61"/>
            </a:solidFill>
            <a:tailEnd type="triangle"/>
          </a:ln>
        </p:spPr>
        <p:style>
          <a:lnRef idx="2">
            <a:schemeClr val="accent1"/>
          </a:lnRef>
          <a:fillRef idx="0">
            <a:schemeClr val="accent1"/>
          </a:fillRef>
          <a:effectRef idx="0">
            <a:schemeClr val="accent1"/>
          </a:effectRef>
          <a:fontRef idx="minor">
            <a:schemeClr val="tx1"/>
          </a:fontRef>
        </p:style>
      </p:cxnSp>
      <p:sp>
        <p:nvSpPr>
          <p:cNvPr id="94" name="shape"/>
          <p:cNvSpPr/>
          <p:nvPr/>
        </p:nvSpPr>
        <p:spPr>
          <a:xfrm>
            <a:off x="2057400" y="5303520"/>
            <a:ext cx="3063240" cy="777240"/>
          </a:xfrm>
          <a:prstGeom prst="roundRect">
            <a:avLst>
              <a:gd name="adj" fmla="val 10000"/>
            </a:avLst>
          </a:prstGeom>
          <a:solidFill>
            <a:srgbClr val="FFFFFF"/>
          </a:solidFill>
          <a:ln w="8890">
            <a:solidFill>
              <a:srgbClr val="CED9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icon-document"/>
          <p:cNvSpPr/>
          <p:nvPr/>
        </p:nvSpPr>
        <p:spPr>
          <a:xfrm>
            <a:off x="2253813" y="5516026"/>
            <a:ext cx="204825" cy="251642"/>
          </a:xfrm>
          <a:prstGeom prst="rect">
            <a:avLst/>
          </a:prstGeom>
          <a:solidFill>
            <a:srgbClr val="FFFFFF"/>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6" name="line"/>
          <p:cNvCxnSpPr/>
          <p:nvPr/>
        </p:nvCxnSpPr>
        <p:spPr>
          <a:xfrm>
            <a:off x="2291852" y="5589178"/>
            <a:ext cx="122895" cy="0"/>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97" name="line"/>
          <p:cNvCxnSpPr/>
          <p:nvPr/>
        </p:nvCxnSpPr>
        <p:spPr>
          <a:xfrm>
            <a:off x="2291852" y="5641848"/>
            <a:ext cx="122895" cy="0"/>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98" name="line"/>
          <p:cNvCxnSpPr/>
          <p:nvPr/>
        </p:nvCxnSpPr>
        <p:spPr>
          <a:xfrm>
            <a:off x="2291852" y="5694517"/>
            <a:ext cx="81930" cy="0"/>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sp>
        <p:nvSpPr>
          <p:cNvPr id="99" name="Draft SOW"/>
          <p:cNvSpPr txBox="1"/>
          <p:nvPr/>
        </p:nvSpPr>
        <p:spPr>
          <a:xfrm>
            <a:off x="2660904" y="5440680"/>
            <a:ext cx="2313432" cy="219456"/>
          </a:xfrm>
          <a:prstGeom prst="rect">
            <a:avLst/>
          </a:prstGeom>
          <a:noFill/>
        </p:spPr>
        <p:txBody>
          <a:bodyPr wrap="square" lIns="0" rIns="0" tIns="0" bIns="0" anchor="t">
            <a:spAutoFit/>
          </a:bodyPr>
          <a:lstStyle/>
          <a:p>
            <a:pPr>
              <a:lnSpc>
                <a:spcPct val="112000"/>
              </a:lnSpc>
              <a:spcAft>
                <a:spcPts val="0"/>
              </a:spcAft>
            </a:pPr>
            <a:r>
              <a:rPr sz="1320" b="1" i="0">
                <a:solidFill>
                  <a:srgbClr val="1E3B32"/>
                </a:solidFill>
                <a:latin typeface="Arial"/>
              </a:rPr>
              <a:t>Draft SOW</a:t>
            </a:r>
          </a:p>
        </p:txBody>
      </p:sp>
      <p:sp>
        <p:nvSpPr>
          <p:cNvPr id="100" name="Scope + estimated delivery"/>
          <p:cNvSpPr txBox="1"/>
          <p:nvPr/>
        </p:nvSpPr>
        <p:spPr>
          <a:xfrm>
            <a:off x="2660904" y="5751576"/>
            <a:ext cx="2313432" cy="164592"/>
          </a:xfrm>
          <a:prstGeom prst="rect">
            <a:avLst/>
          </a:prstGeom>
          <a:noFill/>
        </p:spPr>
        <p:txBody>
          <a:bodyPr wrap="square" lIns="0" rIns="0" tIns="0" bIns="0" anchor="t">
            <a:spAutoFit/>
          </a:bodyPr>
          <a:lstStyle/>
          <a:p>
            <a:pPr>
              <a:lnSpc>
                <a:spcPct val="112000"/>
              </a:lnSpc>
              <a:spcAft>
                <a:spcPts val="0"/>
              </a:spcAft>
            </a:pPr>
            <a:r>
              <a:rPr sz="950" b="0" i="0">
                <a:solidFill>
                  <a:srgbClr val="586D61"/>
                </a:solidFill>
                <a:latin typeface="Arial"/>
              </a:rPr>
              <a:t>Scope + estimated delivery</a:t>
            </a:r>
          </a:p>
        </p:txBody>
      </p:sp>
      <p:cxnSp>
        <p:nvCxnSpPr>
          <p:cNvPr id="101" name="line"/>
          <p:cNvCxnSpPr/>
          <p:nvPr/>
        </p:nvCxnSpPr>
        <p:spPr>
          <a:xfrm>
            <a:off x="4937759" y="5394959"/>
            <a:ext cx="0" cy="118873"/>
          </a:xfrm>
          <a:prstGeom prst="line">
            <a:avLst/>
          </a:prstGeom>
          <a:ln w="10160">
            <a:solidFill>
              <a:srgbClr val="8E4E22"/>
            </a:solidFill>
            <a:tailEnd type="triangle"/>
          </a:ln>
        </p:spPr>
        <p:style>
          <a:lnRef idx="2">
            <a:schemeClr val="accent1"/>
          </a:lnRef>
          <a:fillRef idx="0">
            <a:schemeClr val="accent1"/>
          </a:fillRef>
          <a:effectRef idx="0">
            <a:schemeClr val="accent1"/>
          </a:effectRef>
          <a:fontRef idx="minor">
            <a:schemeClr val="tx1"/>
          </a:fontRef>
        </p:style>
      </p:cxnSp>
      <p:cxnSp>
        <p:nvCxnSpPr>
          <p:cNvPr id="102" name="line"/>
          <p:cNvCxnSpPr/>
          <p:nvPr/>
        </p:nvCxnSpPr>
        <p:spPr>
          <a:xfrm>
            <a:off x="6835140" y="5001768"/>
            <a:ext cx="0" cy="265176"/>
          </a:xfrm>
          <a:prstGeom prst="line">
            <a:avLst/>
          </a:prstGeom>
          <a:ln w="12700">
            <a:solidFill>
              <a:srgbClr val="586D61"/>
            </a:solidFill>
            <a:tailEnd type="triangle"/>
          </a:ln>
        </p:spPr>
        <p:style>
          <a:lnRef idx="2">
            <a:schemeClr val="accent1"/>
          </a:lnRef>
          <a:fillRef idx="0">
            <a:schemeClr val="accent1"/>
          </a:fillRef>
          <a:effectRef idx="0">
            <a:schemeClr val="accent1"/>
          </a:effectRef>
          <a:fontRef idx="minor">
            <a:schemeClr val="tx1"/>
          </a:fontRef>
        </p:style>
      </p:cxnSp>
      <p:sp>
        <p:nvSpPr>
          <p:cNvPr id="103" name="shape"/>
          <p:cNvSpPr/>
          <p:nvPr/>
        </p:nvSpPr>
        <p:spPr>
          <a:xfrm>
            <a:off x="5303520" y="5303520"/>
            <a:ext cx="3063240" cy="777240"/>
          </a:xfrm>
          <a:prstGeom prst="roundRect">
            <a:avLst>
              <a:gd name="adj" fmla="val 10000"/>
            </a:avLst>
          </a:prstGeom>
          <a:solidFill>
            <a:srgbClr val="FFFFFF"/>
          </a:solidFill>
          <a:ln w="8890">
            <a:solidFill>
              <a:srgbClr val="CED9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icon-table"/>
          <p:cNvSpPr/>
          <p:nvPr/>
        </p:nvSpPr>
        <p:spPr>
          <a:xfrm>
            <a:off x="5499933" y="5516026"/>
            <a:ext cx="204825" cy="251642"/>
          </a:xfrm>
          <a:prstGeom prst="rect">
            <a:avLst/>
          </a:prstGeom>
          <a:solidFill>
            <a:srgbClr val="FFFFFF"/>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5" name="line"/>
          <p:cNvCxnSpPr/>
          <p:nvPr/>
        </p:nvCxnSpPr>
        <p:spPr>
          <a:xfrm>
            <a:off x="5499933" y="5595030"/>
            <a:ext cx="204825" cy="0"/>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106" name="line"/>
          <p:cNvCxnSpPr/>
          <p:nvPr/>
        </p:nvCxnSpPr>
        <p:spPr>
          <a:xfrm>
            <a:off x="5499933" y="5671108"/>
            <a:ext cx="204825" cy="0"/>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107" name="line"/>
          <p:cNvCxnSpPr/>
          <p:nvPr/>
        </p:nvCxnSpPr>
        <p:spPr>
          <a:xfrm>
            <a:off x="5581863" y="5595030"/>
            <a:ext cx="0" cy="172639"/>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sp>
        <p:nvSpPr>
          <p:cNvPr id="108" name="Staffing Excel"/>
          <p:cNvSpPr txBox="1"/>
          <p:nvPr/>
        </p:nvSpPr>
        <p:spPr>
          <a:xfrm>
            <a:off x="5907024" y="5440680"/>
            <a:ext cx="2313432" cy="219456"/>
          </a:xfrm>
          <a:prstGeom prst="rect">
            <a:avLst/>
          </a:prstGeom>
          <a:noFill/>
        </p:spPr>
        <p:txBody>
          <a:bodyPr wrap="square" lIns="0" rIns="0" tIns="0" bIns="0" anchor="t">
            <a:spAutoFit/>
          </a:bodyPr>
          <a:lstStyle/>
          <a:p>
            <a:pPr>
              <a:lnSpc>
                <a:spcPct val="112000"/>
              </a:lnSpc>
              <a:spcAft>
                <a:spcPts val="0"/>
              </a:spcAft>
            </a:pPr>
            <a:r>
              <a:rPr sz="1320" b="1" i="0">
                <a:solidFill>
                  <a:srgbClr val="1E3B32"/>
                </a:solidFill>
                <a:latin typeface="Arial"/>
              </a:rPr>
              <a:t>Staffing Excel</a:t>
            </a:r>
          </a:p>
        </p:txBody>
      </p:sp>
      <p:sp>
        <p:nvSpPr>
          <p:cNvPr id="109" name="Predicted effort + roles"/>
          <p:cNvSpPr txBox="1"/>
          <p:nvPr/>
        </p:nvSpPr>
        <p:spPr>
          <a:xfrm>
            <a:off x="5907024" y="5751576"/>
            <a:ext cx="2313432" cy="164592"/>
          </a:xfrm>
          <a:prstGeom prst="rect">
            <a:avLst/>
          </a:prstGeom>
          <a:noFill/>
        </p:spPr>
        <p:txBody>
          <a:bodyPr wrap="square" lIns="0" rIns="0" tIns="0" bIns="0" anchor="t">
            <a:spAutoFit/>
          </a:bodyPr>
          <a:lstStyle/>
          <a:p>
            <a:pPr>
              <a:lnSpc>
                <a:spcPct val="112000"/>
              </a:lnSpc>
              <a:spcAft>
                <a:spcPts val="0"/>
              </a:spcAft>
            </a:pPr>
            <a:r>
              <a:rPr sz="950" b="0" i="0">
                <a:solidFill>
                  <a:srgbClr val="586D61"/>
                </a:solidFill>
                <a:latin typeface="Arial"/>
              </a:rPr>
              <a:t>Predicted effort + roles</a:t>
            </a:r>
          </a:p>
        </p:txBody>
      </p:sp>
      <p:cxnSp>
        <p:nvCxnSpPr>
          <p:cNvPr id="110" name="line"/>
          <p:cNvCxnSpPr/>
          <p:nvPr/>
        </p:nvCxnSpPr>
        <p:spPr>
          <a:xfrm>
            <a:off x="8183880" y="5394959"/>
            <a:ext cx="0" cy="118873"/>
          </a:xfrm>
          <a:prstGeom prst="line">
            <a:avLst/>
          </a:prstGeom>
          <a:ln w="10160">
            <a:solidFill>
              <a:srgbClr val="8E4E22"/>
            </a:solidFill>
            <a:tailEnd type="triangle"/>
          </a:ln>
        </p:spPr>
        <p:style>
          <a:lnRef idx="2">
            <a:schemeClr val="accent1"/>
          </a:lnRef>
          <a:fillRef idx="0">
            <a:schemeClr val="accent1"/>
          </a:fillRef>
          <a:effectRef idx="0">
            <a:schemeClr val="accent1"/>
          </a:effectRef>
          <a:fontRef idx="minor">
            <a:schemeClr val="tx1"/>
          </a:fontRef>
        </p:style>
      </p:cxnSp>
      <p:cxnSp>
        <p:nvCxnSpPr>
          <p:cNvPr id="111" name="line"/>
          <p:cNvCxnSpPr/>
          <p:nvPr/>
        </p:nvCxnSpPr>
        <p:spPr>
          <a:xfrm>
            <a:off x="10081260" y="5001768"/>
            <a:ext cx="0" cy="265176"/>
          </a:xfrm>
          <a:prstGeom prst="line">
            <a:avLst/>
          </a:prstGeom>
          <a:ln w="12700">
            <a:solidFill>
              <a:srgbClr val="586D61"/>
            </a:solidFill>
            <a:tailEnd type="triangle"/>
          </a:ln>
        </p:spPr>
        <p:style>
          <a:lnRef idx="2">
            <a:schemeClr val="accent1"/>
          </a:lnRef>
          <a:fillRef idx="0">
            <a:schemeClr val="accent1"/>
          </a:fillRef>
          <a:effectRef idx="0">
            <a:schemeClr val="accent1"/>
          </a:effectRef>
          <a:fontRef idx="minor">
            <a:schemeClr val="tx1"/>
          </a:fontRef>
        </p:style>
      </p:cxnSp>
      <p:sp>
        <p:nvSpPr>
          <p:cNvPr id="112" name="shape"/>
          <p:cNvSpPr/>
          <p:nvPr/>
        </p:nvSpPr>
        <p:spPr>
          <a:xfrm>
            <a:off x="8549640" y="5303520"/>
            <a:ext cx="3063240" cy="777240"/>
          </a:xfrm>
          <a:prstGeom prst="roundRect">
            <a:avLst>
              <a:gd name="adj" fmla="val 10000"/>
            </a:avLst>
          </a:prstGeom>
          <a:solidFill>
            <a:srgbClr val="FFFFFF"/>
          </a:solidFill>
          <a:ln w="8890">
            <a:solidFill>
              <a:srgbClr val="CED9C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icon-report"/>
          <p:cNvSpPr/>
          <p:nvPr/>
        </p:nvSpPr>
        <p:spPr>
          <a:xfrm>
            <a:off x="8746053" y="5516026"/>
            <a:ext cx="204825" cy="251642"/>
          </a:xfrm>
          <a:prstGeom prst="rect">
            <a:avLst/>
          </a:prstGeom>
          <a:solidFill>
            <a:srgbClr val="FFFFFF"/>
          </a:solidFill>
          <a:ln w="8890">
            <a:solidFill>
              <a:srgbClr val="1E3B3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4" name="line"/>
          <p:cNvCxnSpPr/>
          <p:nvPr/>
        </p:nvCxnSpPr>
        <p:spPr>
          <a:xfrm flipV="1">
            <a:off x="8792870" y="5659404"/>
            <a:ext cx="0" cy="46817"/>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115" name="line"/>
          <p:cNvCxnSpPr/>
          <p:nvPr/>
        </p:nvCxnSpPr>
        <p:spPr>
          <a:xfrm flipV="1">
            <a:off x="8848465" y="5609661"/>
            <a:ext cx="0" cy="96560"/>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cxnSp>
        <p:nvCxnSpPr>
          <p:cNvPr id="116" name="line"/>
          <p:cNvCxnSpPr/>
          <p:nvPr/>
        </p:nvCxnSpPr>
        <p:spPr>
          <a:xfrm flipV="1">
            <a:off x="8904061" y="5568696"/>
            <a:ext cx="0" cy="137525"/>
          </a:xfrm>
          <a:prstGeom prst="line">
            <a:avLst/>
          </a:prstGeom>
          <a:ln w="21590">
            <a:solidFill>
              <a:srgbClr val="1E3B32"/>
            </a:solidFill>
          </a:ln>
        </p:spPr>
        <p:style>
          <a:lnRef idx="2">
            <a:schemeClr val="accent1"/>
          </a:lnRef>
          <a:fillRef idx="0">
            <a:schemeClr val="accent1"/>
          </a:fillRef>
          <a:effectRef idx="0">
            <a:schemeClr val="accent1"/>
          </a:effectRef>
          <a:fontRef idx="minor">
            <a:schemeClr val="tx1"/>
          </a:fontRef>
        </p:style>
      </p:cxnSp>
      <p:sp>
        <p:nvSpPr>
          <p:cNvPr id="117" name="Estimate Summary"/>
          <p:cNvSpPr txBox="1"/>
          <p:nvPr/>
        </p:nvSpPr>
        <p:spPr>
          <a:xfrm>
            <a:off x="9153144" y="5440680"/>
            <a:ext cx="2313432" cy="219456"/>
          </a:xfrm>
          <a:prstGeom prst="rect">
            <a:avLst/>
          </a:prstGeom>
          <a:noFill/>
        </p:spPr>
        <p:txBody>
          <a:bodyPr wrap="square" lIns="0" rIns="0" tIns="0" bIns="0" anchor="t">
            <a:spAutoFit/>
          </a:bodyPr>
          <a:lstStyle/>
          <a:p>
            <a:pPr>
              <a:lnSpc>
                <a:spcPct val="112000"/>
              </a:lnSpc>
              <a:spcAft>
                <a:spcPts val="0"/>
              </a:spcAft>
            </a:pPr>
            <a:r>
              <a:rPr sz="1320" b="1" i="0">
                <a:solidFill>
                  <a:srgbClr val="1E3B32"/>
                </a:solidFill>
                <a:latin typeface="Arial"/>
              </a:rPr>
              <a:t>Estimate Summary</a:t>
            </a:r>
          </a:p>
        </p:txBody>
      </p:sp>
      <p:sp>
        <p:nvSpPr>
          <p:cNvPr id="118" name="Predicted tokens, cost + ROI"/>
          <p:cNvSpPr txBox="1"/>
          <p:nvPr/>
        </p:nvSpPr>
        <p:spPr>
          <a:xfrm>
            <a:off x="9153144" y="5751576"/>
            <a:ext cx="2313432" cy="164592"/>
          </a:xfrm>
          <a:prstGeom prst="rect">
            <a:avLst/>
          </a:prstGeom>
          <a:noFill/>
        </p:spPr>
        <p:txBody>
          <a:bodyPr wrap="square" lIns="0" rIns="0" tIns="0" bIns="0" anchor="t">
            <a:spAutoFit/>
          </a:bodyPr>
          <a:lstStyle/>
          <a:p>
            <a:pPr>
              <a:lnSpc>
                <a:spcPct val="112000"/>
              </a:lnSpc>
              <a:spcAft>
                <a:spcPts val="0"/>
              </a:spcAft>
            </a:pPr>
            <a:r>
              <a:rPr sz="950" b="0" i="0">
                <a:solidFill>
                  <a:srgbClr val="586D61"/>
                </a:solidFill>
                <a:latin typeface="Arial"/>
              </a:rPr>
              <a:t>Predicted tokens, cost + ROI</a:t>
            </a:r>
          </a:p>
        </p:txBody>
      </p:sp>
      <p:cxnSp>
        <p:nvCxnSpPr>
          <p:cNvPr id="119" name="line"/>
          <p:cNvCxnSpPr/>
          <p:nvPr/>
        </p:nvCxnSpPr>
        <p:spPr>
          <a:xfrm>
            <a:off x="11430000" y="5394959"/>
            <a:ext cx="0" cy="118873"/>
          </a:xfrm>
          <a:prstGeom prst="line">
            <a:avLst/>
          </a:prstGeom>
          <a:ln w="10160">
            <a:solidFill>
              <a:srgbClr val="8E4E22"/>
            </a:solidFill>
            <a:tailEnd type="triangle"/>
          </a:ln>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Token Yield | Simple agent learning loop</dc:title>
  <dc:subject>A concise visual workflow for agent coordination, human approval, measurement and feedback</dc:subject>
  <dc:creator>Token Yield</dc:creator>
  <cp:keywords>agents, human-in-the-loop, token prediction, ROI, workflow</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